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 ExtraBold"/>
      <p:bold r:id="rId23"/>
      <p:boldItalic r:id="rId24"/>
    </p:embeddedFont>
    <p:embeddedFont>
      <p:font typeface="Roboto Medium"/>
      <p:regular r:id="rId25"/>
      <p:bold r:id="rId26"/>
      <p:italic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Inter SemiBold"/>
      <p:regular r:id="rId33"/>
      <p:bold r:id="rId34"/>
      <p:italic r:id="rId35"/>
      <p:boldItalic r:id="rId36"/>
    </p:embeddedFont>
    <p:embeddedFont>
      <p:font typeface="Inter"/>
      <p:regular r:id="rId37"/>
      <p:bold r:id="rId38"/>
      <p:italic r:id="rId39"/>
      <p:boldItalic r:id="rId40"/>
    </p:embeddedFont>
    <p:embeddedFont>
      <p:font typeface="Inter ExtraBold"/>
      <p:bold r:id="rId41"/>
      <p:boldItalic r:id="rId42"/>
    </p:embeddedFont>
    <p:embeddedFont>
      <p:font typeface="Roboto SemiBold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Italic.fntdata"/><Relationship Id="rId20" Type="http://schemas.openxmlformats.org/officeDocument/2006/relationships/slide" Target="slides/slide15.xml"/><Relationship Id="rId42" Type="http://schemas.openxmlformats.org/officeDocument/2006/relationships/font" Target="fonts/InterExtraBold-boldItalic.fntdata"/><Relationship Id="rId41" Type="http://schemas.openxmlformats.org/officeDocument/2006/relationships/font" Target="fonts/InterExtraBold-bold.fntdata"/><Relationship Id="rId22" Type="http://schemas.openxmlformats.org/officeDocument/2006/relationships/slide" Target="slides/slide17.xml"/><Relationship Id="rId44" Type="http://schemas.openxmlformats.org/officeDocument/2006/relationships/font" Target="fonts/RobotoSemiBold-bold.fntdata"/><Relationship Id="rId21" Type="http://schemas.openxmlformats.org/officeDocument/2006/relationships/slide" Target="slides/slide16.xml"/><Relationship Id="rId43" Type="http://schemas.openxmlformats.org/officeDocument/2006/relationships/font" Target="fonts/RobotoSemiBold-regular.fntdata"/><Relationship Id="rId24" Type="http://schemas.openxmlformats.org/officeDocument/2006/relationships/font" Target="fonts/RobotoExtraBold-boldItalic.fntdata"/><Relationship Id="rId46" Type="http://schemas.openxmlformats.org/officeDocument/2006/relationships/font" Target="fonts/RobotoSemiBold-boldItalic.fntdata"/><Relationship Id="rId23" Type="http://schemas.openxmlformats.org/officeDocument/2006/relationships/font" Target="fonts/RobotoExtraBold-bold.fntdata"/><Relationship Id="rId45" Type="http://schemas.openxmlformats.org/officeDocument/2006/relationships/font" Target="fonts/Roboto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edium-bold.fntdata"/><Relationship Id="rId25" Type="http://schemas.openxmlformats.org/officeDocument/2006/relationships/font" Target="fonts/RobotoMedium-regular.fntdata"/><Relationship Id="rId28" Type="http://schemas.openxmlformats.org/officeDocument/2006/relationships/font" Target="fonts/RobotoMedium-boldItalic.fntdata"/><Relationship Id="rId27" Type="http://schemas.openxmlformats.org/officeDocument/2006/relationships/font" Target="fonts/Roboto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33" Type="http://schemas.openxmlformats.org/officeDocument/2006/relationships/font" Target="fonts/InterSemiBold-regular.fntdata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35" Type="http://schemas.openxmlformats.org/officeDocument/2006/relationships/font" Target="fonts/InterSemiBold-italic.fntdata"/><Relationship Id="rId12" Type="http://schemas.openxmlformats.org/officeDocument/2006/relationships/slide" Target="slides/slide7.xml"/><Relationship Id="rId34" Type="http://schemas.openxmlformats.org/officeDocument/2006/relationships/font" Target="fonts/InterSemiBold-bold.fntdata"/><Relationship Id="rId15" Type="http://schemas.openxmlformats.org/officeDocument/2006/relationships/slide" Target="slides/slide10.xml"/><Relationship Id="rId37" Type="http://schemas.openxmlformats.org/officeDocument/2006/relationships/font" Target="fonts/Inter-regular.fntdata"/><Relationship Id="rId14" Type="http://schemas.openxmlformats.org/officeDocument/2006/relationships/slide" Target="slides/slide9.xml"/><Relationship Id="rId36" Type="http://schemas.openxmlformats.org/officeDocument/2006/relationships/font" Target="fonts/InterSemiBold-boldItalic.fntdata"/><Relationship Id="rId17" Type="http://schemas.openxmlformats.org/officeDocument/2006/relationships/slide" Target="slides/slide12.xml"/><Relationship Id="rId39" Type="http://schemas.openxmlformats.org/officeDocument/2006/relationships/font" Target="fonts/Inter-italic.fntdata"/><Relationship Id="rId16" Type="http://schemas.openxmlformats.org/officeDocument/2006/relationships/slide" Target="slides/slide11.xml"/><Relationship Id="rId38" Type="http://schemas.openxmlformats.org/officeDocument/2006/relationships/font" Target="fonts/Inter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34f0a008efa8e556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34f0a008efa8e556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34f0a008efa8e556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34f0a008efa8e556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2162a9e355eb46a_0_18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2162a9e355eb46a_0_1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2162a9e355eb46a_0_1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2162a9e355eb46a_0_1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34f0a008efa8e556_0_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34f0a008efa8e556_0_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34f0a008efa8e556_0_1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34f0a008efa8e556_0_1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h34f0a008efa8e556_0_1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h34f0a008efa8e556_0_1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h34f0a008efa8e556_0_1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h34f0a008efa8e556_0_1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34f0a008efa8e556_0_1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h34f0a008efa8e556_0_1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2162a9e355eb46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h2162a9e355eb46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h2162a9e355eb46a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h2162a9e355eb46a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h2162a9e355eb46a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h2162a9e355eb46a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h2162a9e355eb46a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h2162a9e355eb46a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h2162a9e355eb46a_0_1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h2162a9e355eb46a_0_1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h2162a9e355eb46a_0_1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h2162a9e355eb46a_0_1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h2162a9e355eb46a_0_1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h2162a9e355eb46a_0_1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h34f0a008efa8e556_0_18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h34f0a008efa8e556_0_1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34f0a008efa8e556_6_0)">
  <p:cSld name="Generated (h34f0a008efa8e556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close/>
              </a:path>
            </a:pathLst>
          </a:custGeom>
          <a:solidFill>
            <a:srgbClr val="351C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" name="Google Shape;57;p14"/>
          <p:cNvGrpSpPr/>
          <p:nvPr/>
        </p:nvGrpSpPr>
        <p:grpSpPr>
          <a:xfrm>
            <a:off x="476250" y="571500"/>
            <a:ext cx="1714500" cy="266700"/>
            <a:chOff x="0" y="0"/>
            <a:chExt cx="1714500" cy="266700"/>
          </a:xfrm>
        </p:grpSpPr>
        <p:sp>
          <p:nvSpPr>
            <p:cNvPr id="58" name="Google Shape;58;p14"/>
            <p:cNvSpPr/>
            <p:nvPr/>
          </p:nvSpPr>
          <p:spPr>
            <a:xfrm>
              <a:off x="0" y="0"/>
              <a:ext cx="1714500" cy="2667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9" name="Google Shape;59;p14"/>
            <p:cNvSpPr txBox="1"/>
            <p:nvPr/>
          </p:nvSpPr>
          <p:spPr>
            <a:xfrm>
              <a:off x="142875" y="38100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B82F6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IT DASHBOARD</a:t>
              </a:r>
              <a:endParaRPr sz="1000">
                <a:solidFill>
                  <a:srgbClr val="3B82F6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60" name="Google Shape;60;p14"/>
          <p:cNvSpPr txBox="1"/>
          <p:nvPr/>
        </p:nvSpPr>
        <p:spPr>
          <a:xfrm>
            <a:off x="476250" y="104775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Ticket Management Analytics</a:t>
            </a:r>
            <a:endParaRPr sz="36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grpSp>
        <p:nvGrpSpPr>
          <p:cNvPr id="61" name="Google Shape;61;p14"/>
          <p:cNvGrpSpPr/>
          <p:nvPr/>
        </p:nvGrpSpPr>
        <p:grpSpPr>
          <a:xfrm>
            <a:off x="476250" y="2190750"/>
            <a:ext cx="8191500" cy="2286000"/>
            <a:chOff x="0" y="0"/>
            <a:chExt cx="8191500" cy="2286000"/>
          </a:xfrm>
        </p:grpSpPr>
        <p:pic>
          <p:nvPicPr>
            <p:cNvPr descr="A sleek, dark modern IT operations data center with subtle neon blue and purple ambient lighting, high tech aesthetic, clean visual background" id="62" name="Google Shape;62;p14"/>
            <p:cNvPicPr preferRelativeResize="0"/>
            <p:nvPr/>
          </p:nvPicPr>
          <p:blipFill rotWithShape="1">
            <a:blip r:embed="rId4">
              <a:alphaModFix/>
            </a:blip>
            <a:srcRect b="25193" l="0" r="0" t="25193"/>
            <a:stretch/>
          </p:blipFill>
          <p:spPr>
            <a:xfrm>
              <a:off x="0" y="0"/>
              <a:ext cx="8191500" cy="22860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63" name="Google Shape;63;p14"/>
            <p:cNvSpPr/>
            <p:nvPr/>
          </p:nvSpPr>
          <p:spPr>
            <a:xfrm>
              <a:off x="0" y="0"/>
              <a:ext cx="8191500" cy="2286000"/>
            </a:xfrm>
            <a:prstGeom prst="roundRect">
              <a:avLst>
                <a:gd fmla="val 6666" name="adj"/>
              </a:avLst>
            </a:prstGeom>
            <a:solidFill>
              <a:srgbClr val="0F172A">
                <a:alpha val="4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close/>
              </a:path>
            </a:pathLst>
          </a:custGeom>
          <a:solidFill>
            <a:srgbClr val="351C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" name="Google Shape;69;p15"/>
          <p:cNvGrpSpPr/>
          <p:nvPr/>
        </p:nvGrpSpPr>
        <p:grpSpPr>
          <a:xfrm>
            <a:off x="476250" y="333375"/>
            <a:ext cx="1714500" cy="247800"/>
            <a:chOff x="0" y="0"/>
            <a:chExt cx="1714500" cy="247800"/>
          </a:xfrm>
        </p:grpSpPr>
        <p:sp>
          <p:nvSpPr>
            <p:cNvPr id="70" name="Google Shape;70;p15"/>
            <p:cNvSpPr/>
            <p:nvPr/>
          </p:nvSpPr>
          <p:spPr>
            <a:xfrm>
              <a:off x="0" y="0"/>
              <a:ext cx="1714500" cy="2478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0" y="0"/>
              <a:ext cx="1714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3B82F6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PROBLEM STATEMENT</a:t>
              </a:r>
              <a:endParaRPr sz="900">
                <a:solidFill>
                  <a:srgbClr val="3B82F6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72" name="Google Shape;72;p15"/>
          <p:cNvSpPr txBox="1"/>
          <p:nvPr/>
        </p:nvSpPr>
        <p:spPr>
          <a:xfrm>
            <a:off x="476250" y="66675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Key Objectives for IT Operations Analytics</a:t>
            </a:r>
            <a:endParaRPr b="1" sz="2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76250" y="1047750"/>
            <a:ext cx="81915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EFEFEF"/>
                </a:solidFill>
                <a:latin typeface="Roboto Medium"/>
                <a:ea typeface="Roboto Medium"/>
                <a:cs typeface="Roboto Medium"/>
                <a:sym typeface="Roboto Medium"/>
              </a:rPr>
              <a:t>Three core dimensions analysed</a:t>
            </a:r>
            <a:endParaRPr i="1" sz="1300">
              <a:solidFill>
                <a:srgbClr val="EFEFE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74" name="Google Shape;74;p15"/>
          <p:cNvGrpSpPr/>
          <p:nvPr/>
        </p:nvGrpSpPr>
        <p:grpSpPr>
          <a:xfrm>
            <a:off x="476250" y="1476375"/>
            <a:ext cx="2533800" cy="1714500"/>
            <a:chOff x="0" y="0"/>
            <a:chExt cx="2533800" cy="1714500"/>
          </a:xfrm>
        </p:grpSpPr>
        <p:sp>
          <p:nvSpPr>
            <p:cNvPr id="75" name="Google Shape;75;p15"/>
            <p:cNvSpPr/>
            <p:nvPr/>
          </p:nvSpPr>
          <p:spPr>
            <a:xfrm>
              <a:off x="0" y="0"/>
              <a:ext cx="2533800" cy="1714500"/>
            </a:xfrm>
            <a:prstGeom prst="roundRect">
              <a:avLst>
                <a:gd fmla="val 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0" y="0"/>
              <a:ext cx="25338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228600" y="257175"/>
              <a:ext cx="342900" cy="342900"/>
            </a:xfrm>
            <a:prstGeom prst="ellipse">
              <a:avLst/>
            </a:prstGeom>
            <a:solidFill>
              <a:srgbClr val="3B82F6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228600" y="257175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20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190500" y="666750"/>
              <a:ext cx="21528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" sz="1300">
                  <a:solidFill>
                    <a:srgbClr val="F8FAFC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Ticket Dynamics</a:t>
              </a:r>
              <a:endParaRPr i="0" sz="1300">
                <a:solidFill>
                  <a:srgbClr val="F8FAFC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i="0" lang="en" sz="1000">
                  <a:solidFill>
                    <a:srgbClr val="D9D9D9"/>
                  </a:solidFill>
                  <a:latin typeface="Roboto"/>
                  <a:ea typeface="Roboto"/>
                  <a:cs typeface="Roboto"/>
                  <a:sym typeface="Roboto"/>
                </a:rPr>
                <a:t>Analyzed ticket trends, categories, and severity to identify workload patterns and bottlenecks.</a:t>
              </a:r>
              <a:endParaRPr i="0" sz="10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" name="Google Shape;80;p15"/>
          <p:cNvGrpSpPr/>
          <p:nvPr/>
        </p:nvGrpSpPr>
        <p:grpSpPr>
          <a:xfrm>
            <a:off x="3305175" y="1476375"/>
            <a:ext cx="2533800" cy="1714500"/>
            <a:chOff x="0" y="0"/>
            <a:chExt cx="2533800" cy="1714500"/>
          </a:xfrm>
        </p:grpSpPr>
        <p:sp>
          <p:nvSpPr>
            <p:cNvPr id="81" name="Google Shape;81;p15"/>
            <p:cNvSpPr/>
            <p:nvPr/>
          </p:nvSpPr>
          <p:spPr>
            <a:xfrm>
              <a:off x="0" y="0"/>
              <a:ext cx="2533800" cy="1714500"/>
            </a:xfrm>
            <a:prstGeom prst="roundRect">
              <a:avLst>
                <a:gd fmla="val 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0" y="0"/>
              <a:ext cx="2533800" cy="381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228600" y="257175"/>
              <a:ext cx="342900" cy="342900"/>
            </a:xfrm>
            <a:prstGeom prst="ellipse">
              <a:avLst/>
            </a:prstGeom>
            <a:solidFill>
              <a:srgbClr val="10B981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228600" y="257175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2000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190500" y="666750"/>
              <a:ext cx="21528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" sz="1008">
                  <a:solidFill>
                    <a:srgbClr val="F8FAFC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Tool &amp; Team Efficiency</a:t>
              </a:r>
              <a:endParaRPr i="0" sz="1008">
                <a:solidFill>
                  <a:srgbClr val="F8FAFC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i="0" lang="en" sz="900">
                  <a:solidFill>
                    <a:srgbClr val="D9D9D9"/>
                  </a:solidFill>
                  <a:latin typeface="Roboto"/>
                  <a:ea typeface="Roboto"/>
                  <a:cs typeface="Roboto"/>
                  <a:sym typeface="Roboto"/>
                </a:rPr>
                <a:t>Evaluated current software and processes through trends in resolution time, satisfaction, and efficiency score.</a:t>
              </a:r>
              <a:endParaRPr i="0" sz="9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i="0" lang="en" sz="900">
                  <a:solidFill>
                    <a:srgbClr val="D9D9D9"/>
                  </a:solidFill>
                  <a:latin typeface="Roboto"/>
                  <a:ea typeface="Roboto"/>
                  <a:cs typeface="Roboto"/>
                  <a:sym typeface="Roboto"/>
                </a:rPr>
                <a:t>Helped determine investment priorities — software, training, or hiring.</a:t>
              </a:r>
              <a:endParaRPr i="0" sz="9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6" name="Google Shape;86;p15"/>
          <p:cNvGrpSpPr/>
          <p:nvPr/>
        </p:nvGrpSpPr>
        <p:grpSpPr>
          <a:xfrm>
            <a:off x="6134100" y="1476375"/>
            <a:ext cx="2533800" cy="1714500"/>
            <a:chOff x="0" y="0"/>
            <a:chExt cx="2533800" cy="1714500"/>
          </a:xfrm>
        </p:grpSpPr>
        <p:sp>
          <p:nvSpPr>
            <p:cNvPr id="87" name="Google Shape;87;p15"/>
            <p:cNvSpPr/>
            <p:nvPr/>
          </p:nvSpPr>
          <p:spPr>
            <a:xfrm>
              <a:off x="0" y="0"/>
              <a:ext cx="2533800" cy="1714500"/>
            </a:xfrm>
            <a:prstGeom prst="roundRect">
              <a:avLst>
                <a:gd fmla="val 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0" y="0"/>
              <a:ext cx="2533800" cy="381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228600" y="257175"/>
              <a:ext cx="342900" cy="342900"/>
            </a:xfrm>
            <a:prstGeom prst="ellipse">
              <a:avLst/>
            </a:prstGeom>
            <a:solidFill>
              <a:srgbClr val="8B5CF6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 txBox="1"/>
            <p:nvPr/>
          </p:nvSpPr>
          <p:spPr>
            <a:xfrm>
              <a:off x="228600" y="257175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8B5C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sz="2000">
                <a:solidFill>
                  <a:srgbClr val="8B5C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190500" y="666750"/>
              <a:ext cx="21528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" sz="1300">
                  <a:solidFill>
                    <a:srgbClr val="F8FAFC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Agent Capability</a:t>
              </a:r>
              <a:endParaRPr i="0" sz="1300">
                <a:solidFill>
                  <a:srgbClr val="F8FAFC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0" lang="en" sz="950">
                  <a:solidFill>
                    <a:srgbClr val="D9D9D9"/>
                  </a:solidFill>
                  <a:latin typeface="Inter"/>
                  <a:ea typeface="Inter"/>
                  <a:cs typeface="Inter"/>
                  <a:sym typeface="Inter"/>
                </a:rPr>
                <a:t>Compared performance by age group to assess skill, experience, and workload balance.</a:t>
              </a:r>
              <a:endParaRPr b="0" i="0" sz="95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2" name="Google Shape;92;p15"/>
          <p:cNvSpPr txBox="1"/>
          <p:nvPr/>
        </p:nvSpPr>
        <p:spPr>
          <a:xfrm>
            <a:off x="476250" y="3429000"/>
            <a:ext cx="8191500" cy="106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300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rPr>
              <a:t>Goal: </a:t>
            </a:r>
            <a:r>
              <a:rPr i="0"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Identify which factors — issue type, tool effectiveness, or agent capability — most impact overall IT Support performance.</a:t>
            </a:r>
            <a:endParaRPr i="0"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close/>
              </a:path>
            </a:pathLst>
          </a:custGeom>
          <a:solidFill>
            <a:srgbClr val="351C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" name="Google Shape;98;p16"/>
          <p:cNvGrpSpPr/>
          <p:nvPr/>
        </p:nvGrpSpPr>
        <p:grpSpPr>
          <a:xfrm>
            <a:off x="476250" y="333375"/>
            <a:ext cx="1714500" cy="247800"/>
            <a:chOff x="0" y="0"/>
            <a:chExt cx="1714500" cy="247800"/>
          </a:xfrm>
        </p:grpSpPr>
        <p:sp>
          <p:nvSpPr>
            <p:cNvPr id="99" name="Google Shape;99;p16"/>
            <p:cNvSpPr/>
            <p:nvPr/>
          </p:nvSpPr>
          <p:spPr>
            <a:xfrm>
              <a:off x="0" y="0"/>
              <a:ext cx="1714500" cy="2478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0" y="0"/>
              <a:ext cx="1714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3B82F6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DATA ARCHITECTURE</a:t>
              </a:r>
              <a:endParaRPr sz="900">
                <a:solidFill>
                  <a:srgbClr val="3B82F6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101" name="Google Shape;101;p16"/>
          <p:cNvSpPr txBox="1"/>
          <p:nvPr/>
        </p:nvSpPr>
        <p:spPr>
          <a:xfrm>
            <a:off x="476250" y="66675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Overview &amp; Schema Structure</a:t>
            </a:r>
            <a:endParaRPr b="1"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2" name="Google Shape;102;p16"/>
          <p:cNvGrpSpPr/>
          <p:nvPr/>
        </p:nvGrpSpPr>
        <p:grpSpPr>
          <a:xfrm>
            <a:off x="476250" y="1285875"/>
            <a:ext cx="3952800" cy="3429000"/>
            <a:chOff x="0" y="0"/>
            <a:chExt cx="3952800" cy="3429000"/>
          </a:xfrm>
        </p:grpSpPr>
        <p:sp>
          <p:nvSpPr>
            <p:cNvPr id="103" name="Google Shape;103;p16"/>
            <p:cNvSpPr/>
            <p:nvPr/>
          </p:nvSpPr>
          <p:spPr>
            <a:xfrm>
              <a:off x="0" y="0"/>
              <a:ext cx="3952800" cy="3429000"/>
            </a:xfrm>
            <a:prstGeom prst="roundRect">
              <a:avLst>
                <a:gd fmla="val 3333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0" y="0"/>
              <a:ext cx="39528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 txBox="1"/>
            <p:nvPr/>
          </p:nvSpPr>
          <p:spPr>
            <a:xfrm>
              <a:off x="228600" y="190500"/>
              <a:ext cx="34956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3B82F6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Tickets Sheet</a:t>
              </a:r>
              <a:endParaRPr sz="1300">
                <a:solidFill>
                  <a:srgbClr val="3B82F6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0B98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Core Support Log Data</a:t>
              </a:r>
              <a:endParaRPr sz="1200">
                <a:solidFill>
                  <a:srgbClr val="10B98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ID:</a:t>
              </a:r>
              <a:r>
                <a:rPr b="0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Unique identifier for the ticket</a:t>
              </a:r>
              <a:endParaRPr b="0"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Ticket Fetcha:</a:t>
              </a:r>
              <a:r>
                <a:rPr b="0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Date of the ticket</a:t>
              </a:r>
              <a:endParaRPr b="0"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Employee ID:</a:t>
              </a:r>
              <a:r>
                <a:rPr b="0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Raised by employee</a:t>
              </a:r>
              <a:endParaRPr b="0"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Agent ID:</a:t>
              </a:r>
              <a:r>
                <a:rPr b="0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Assigned support agent</a:t>
              </a:r>
              <a:endParaRPr b="0"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Request Category:</a:t>
              </a:r>
              <a:r>
                <a:rPr b="0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Login Access, System, Software</a:t>
              </a:r>
              <a:endParaRPr b="0"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Issue Type:</a:t>
              </a:r>
              <a:r>
                <a:rPr b="0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IT Error, IT Request</a:t>
              </a:r>
              <a:endParaRPr b="0"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Severity &amp; Priority:</a:t>
              </a:r>
              <a:r>
                <a:rPr b="0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Escalation levels</a:t>
              </a:r>
              <a:endParaRPr b="0"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Resolution Time (Days):</a:t>
              </a:r>
              <a:r>
                <a:rPr b="0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Turnaround</a:t>
              </a:r>
              <a:endParaRPr b="0"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Satisfaction Rate:</a:t>
              </a:r>
              <a:r>
                <a:rPr b="0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Score on 1–5 scale</a:t>
              </a:r>
              <a:endParaRPr b="0"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6" name="Google Shape;106;p16"/>
          <p:cNvGrpSpPr/>
          <p:nvPr/>
        </p:nvGrpSpPr>
        <p:grpSpPr>
          <a:xfrm>
            <a:off x="4714875" y="1285875"/>
            <a:ext cx="3952800" cy="3429000"/>
            <a:chOff x="0" y="0"/>
            <a:chExt cx="3952800" cy="3429000"/>
          </a:xfrm>
        </p:grpSpPr>
        <p:sp>
          <p:nvSpPr>
            <p:cNvPr id="107" name="Google Shape;107;p16"/>
            <p:cNvSpPr/>
            <p:nvPr/>
          </p:nvSpPr>
          <p:spPr>
            <a:xfrm>
              <a:off x="0" y="0"/>
              <a:ext cx="3952800" cy="3429000"/>
            </a:xfrm>
            <a:prstGeom prst="roundRect">
              <a:avLst>
                <a:gd fmla="val 3333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0" y="0"/>
              <a:ext cx="3952800" cy="381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228600" y="190500"/>
              <a:ext cx="34956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0B98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IT Agents Sheet</a:t>
              </a:r>
              <a:endParaRPr sz="1300">
                <a:solidFill>
                  <a:srgbClr val="10B98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3B82F6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Agent Profiles &amp; Demographics</a:t>
              </a:r>
              <a:endParaRPr sz="1200">
                <a:solidFill>
                  <a:srgbClr val="3B82F6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Agent ID:</a:t>
              </a:r>
              <a:r>
                <a:rPr b="0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Unique identifier for the agent</a:t>
              </a:r>
              <a:endParaRPr b="0"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Full Name:</a:t>
              </a:r>
              <a:r>
                <a:rPr b="0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Agent's complete name</a:t>
              </a:r>
              <a:endParaRPr b="0"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Email:</a:t>
              </a:r>
              <a:r>
                <a:rPr b="0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Contact email address</a:t>
              </a:r>
              <a:endParaRPr b="0"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Year of Birth:</a:t>
              </a:r>
              <a:r>
                <a:rPr b="0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Birth year</a:t>
              </a:r>
              <a:endParaRPr b="0"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Month of Birth:</a:t>
              </a:r>
              <a:r>
                <a:rPr b="0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Birth month</a:t>
              </a:r>
              <a:endParaRPr b="0"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Day of Birth:</a:t>
              </a:r>
              <a:r>
                <a:rPr b="0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Birth day</a:t>
              </a:r>
              <a:endParaRPr b="0"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close/>
              </a:path>
            </a:pathLst>
          </a:custGeom>
          <a:solidFill>
            <a:srgbClr val="351C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" name="Google Shape;115;p17"/>
          <p:cNvGrpSpPr/>
          <p:nvPr/>
        </p:nvGrpSpPr>
        <p:grpSpPr>
          <a:xfrm>
            <a:off x="476250" y="333375"/>
            <a:ext cx="1714500" cy="247800"/>
            <a:chOff x="0" y="0"/>
            <a:chExt cx="1714500" cy="247800"/>
          </a:xfrm>
        </p:grpSpPr>
        <p:sp>
          <p:nvSpPr>
            <p:cNvPr id="116" name="Google Shape;116;p17"/>
            <p:cNvSpPr/>
            <p:nvPr/>
          </p:nvSpPr>
          <p:spPr>
            <a:xfrm>
              <a:off x="0" y="0"/>
              <a:ext cx="1714500" cy="2478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 txBox="1"/>
            <p:nvPr/>
          </p:nvSpPr>
          <p:spPr>
            <a:xfrm>
              <a:off x="0" y="0"/>
              <a:ext cx="1714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3B82F6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METHODOLOGY &amp; TOOLS</a:t>
              </a:r>
              <a:endParaRPr sz="900">
                <a:solidFill>
                  <a:srgbClr val="3B82F6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118" name="Google Shape;118;p17"/>
          <p:cNvSpPr txBox="1"/>
          <p:nvPr/>
        </p:nvSpPr>
        <p:spPr>
          <a:xfrm>
            <a:off x="476250" y="64770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Analysis Conducted &amp; Technologies Used</a:t>
            </a:r>
            <a:endParaRPr b="1"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9" name="Google Shape;119;p17"/>
          <p:cNvGrpSpPr/>
          <p:nvPr/>
        </p:nvGrpSpPr>
        <p:grpSpPr>
          <a:xfrm>
            <a:off x="476250" y="1143000"/>
            <a:ext cx="5238900" cy="3619500"/>
            <a:chOff x="0" y="0"/>
            <a:chExt cx="5238900" cy="3619500"/>
          </a:xfrm>
        </p:grpSpPr>
        <p:sp>
          <p:nvSpPr>
            <p:cNvPr id="120" name="Google Shape;120;p17"/>
            <p:cNvSpPr/>
            <p:nvPr/>
          </p:nvSpPr>
          <p:spPr>
            <a:xfrm>
              <a:off x="0" y="0"/>
              <a:ext cx="5238900" cy="3619500"/>
            </a:xfrm>
            <a:prstGeom prst="roundRect">
              <a:avLst>
                <a:gd fmla="val 3157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0" y="0"/>
              <a:ext cx="52389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 txBox="1"/>
            <p:nvPr/>
          </p:nvSpPr>
          <p:spPr>
            <a:xfrm>
              <a:off x="228600" y="190500"/>
              <a:ext cx="4781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3B82F6"/>
                  </a:solidFill>
                  <a:latin typeface="Roboto"/>
                  <a:ea typeface="Roboto"/>
                  <a:cs typeface="Roboto"/>
                  <a:sym typeface="Roboto"/>
                </a:rPr>
                <a:t>Analysis Conducted</a:t>
              </a:r>
              <a:endParaRPr b="1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" name="Google Shape;123;p17"/>
            <p:cNvSpPr txBox="1"/>
            <p:nvPr/>
          </p:nvSpPr>
          <p:spPr>
            <a:xfrm>
              <a:off x="228600" y="523875"/>
              <a:ext cx="4781700" cy="29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● Trend Analysis</a:t>
              </a:r>
              <a:r>
                <a:rPr b="0" lang="en" sz="125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→ Ticket volumes, satisfaction, and resolution times over years/quarters.</a:t>
              </a:r>
              <a:endParaRPr sz="125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● Efficiency Analysis</a:t>
              </a:r>
              <a:r>
                <a:rPr b="0" lang="en" sz="125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→ To evaluate team performance</a:t>
              </a:r>
              <a:r>
                <a:rPr b="0" lang="en" sz="125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125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● Decision Matrix Analysis</a:t>
              </a:r>
              <a:r>
                <a:rPr b="0" lang="en" sz="125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→ Classified agents into Training, Hiring, or Software Upgrade categories.</a:t>
              </a:r>
              <a:endParaRPr sz="125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● Demographic Analysis</a:t>
              </a:r>
              <a:r>
                <a:rPr b="0" lang="en" sz="125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→ Grouped agents by age brackets.</a:t>
              </a:r>
              <a:endParaRPr b="0" sz="125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● Comparative Performance Analysis</a:t>
              </a:r>
              <a:r>
                <a:rPr b="0" lang="en" sz="125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→ Individual Agents Performance.</a:t>
              </a:r>
              <a:endParaRPr b="0" sz="125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● Category-wise Analysis</a:t>
              </a:r>
              <a:r>
                <a:rPr b="0" lang="en" sz="125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→ Evaluated KPIs across request categories.</a:t>
              </a:r>
              <a:endParaRPr b="0" sz="125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4" name="Google Shape;124;p17"/>
          <p:cNvGrpSpPr/>
          <p:nvPr/>
        </p:nvGrpSpPr>
        <p:grpSpPr>
          <a:xfrm>
            <a:off x="5905500" y="1143000"/>
            <a:ext cx="2762400" cy="3619500"/>
            <a:chOff x="0" y="0"/>
            <a:chExt cx="2762400" cy="3619500"/>
          </a:xfrm>
        </p:grpSpPr>
        <p:sp>
          <p:nvSpPr>
            <p:cNvPr id="125" name="Google Shape;125;p17"/>
            <p:cNvSpPr/>
            <p:nvPr/>
          </p:nvSpPr>
          <p:spPr>
            <a:xfrm>
              <a:off x="0" y="0"/>
              <a:ext cx="2762400" cy="3619500"/>
            </a:xfrm>
            <a:prstGeom prst="roundRect">
              <a:avLst>
                <a:gd fmla="val 4137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0" y="0"/>
              <a:ext cx="2762400" cy="381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190500" y="190500"/>
              <a:ext cx="2381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0B981"/>
                  </a:solidFill>
                  <a:latin typeface="Roboto"/>
                  <a:ea typeface="Roboto"/>
                  <a:cs typeface="Roboto"/>
                  <a:sym typeface="Roboto"/>
                </a:rPr>
                <a:t>Tools &amp; Technologies</a:t>
              </a:r>
              <a:endParaRPr b="1" sz="1300">
                <a:solidFill>
                  <a:srgbClr val="10B98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" name="Google Shape;128;p17"/>
            <p:cNvSpPr txBox="1"/>
            <p:nvPr/>
          </p:nvSpPr>
          <p:spPr>
            <a:xfrm>
              <a:off x="190500" y="523875"/>
              <a:ext cx="23814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● Platforms Used:</a:t>
              </a:r>
              <a:endParaRPr b="0"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94A3B8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• Microsoft Excel</a:t>
              </a:r>
              <a:endParaRPr b="0" sz="1200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● Key Techniques &amp; Features:</a:t>
              </a:r>
              <a:endParaRPr b="0"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94A3B8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• Pivot Tables</a:t>
              </a:r>
              <a:endParaRPr b="0" sz="1200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94A3B8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• Interactive Charts</a:t>
              </a:r>
              <a:endParaRPr b="0" sz="1200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94A3B8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• Advanced Formulas: XLOOKUP / PERCENTILE / IFS</a:t>
              </a:r>
              <a:endParaRPr b="0" sz="1200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94A3B8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• Slicers for interactive filtering</a:t>
              </a:r>
              <a:endParaRPr b="0" sz="1200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close/>
              </a:path>
            </a:pathLst>
          </a:custGeom>
          <a:solidFill>
            <a:srgbClr val="351C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" name="Google Shape;134;p18"/>
          <p:cNvGrpSpPr/>
          <p:nvPr/>
        </p:nvGrpSpPr>
        <p:grpSpPr>
          <a:xfrm>
            <a:off x="476250" y="333375"/>
            <a:ext cx="1714500" cy="247800"/>
            <a:chOff x="0" y="0"/>
            <a:chExt cx="1714500" cy="247800"/>
          </a:xfrm>
        </p:grpSpPr>
        <p:sp>
          <p:nvSpPr>
            <p:cNvPr id="135" name="Google Shape;135;p18"/>
            <p:cNvSpPr/>
            <p:nvPr/>
          </p:nvSpPr>
          <p:spPr>
            <a:xfrm>
              <a:off x="0" y="0"/>
              <a:ext cx="1714500" cy="2478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8"/>
            <p:cNvSpPr txBox="1"/>
            <p:nvPr/>
          </p:nvSpPr>
          <p:spPr>
            <a:xfrm>
              <a:off x="0" y="0"/>
              <a:ext cx="1714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3B82F6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OVERVIEW METRICS</a:t>
              </a:r>
              <a:endParaRPr sz="900">
                <a:solidFill>
                  <a:srgbClr val="3B82F6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137" name="Google Shape;137;p18"/>
          <p:cNvSpPr txBox="1"/>
          <p:nvPr/>
        </p:nvSpPr>
        <p:spPr>
          <a:xfrm>
            <a:off x="476250" y="66675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Key Performance Metrics</a:t>
            </a:r>
            <a:endParaRPr b="1" sz="2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8" name="Google Shape;138;p18"/>
          <p:cNvGrpSpPr/>
          <p:nvPr/>
        </p:nvGrpSpPr>
        <p:grpSpPr>
          <a:xfrm>
            <a:off x="476250" y="1524000"/>
            <a:ext cx="2533800" cy="1428900"/>
            <a:chOff x="0" y="0"/>
            <a:chExt cx="2533800" cy="1428900"/>
          </a:xfrm>
        </p:grpSpPr>
        <p:sp>
          <p:nvSpPr>
            <p:cNvPr id="139" name="Google Shape;139;p18"/>
            <p:cNvSpPr/>
            <p:nvPr/>
          </p:nvSpPr>
          <p:spPr>
            <a:xfrm>
              <a:off x="0" y="0"/>
              <a:ext cx="25338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0" y="0"/>
              <a:ext cx="25338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8"/>
            <p:cNvSpPr txBox="1"/>
            <p:nvPr/>
          </p:nvSpPr>
          <p:spPr>
            <a:xfrm>
              <a:off x="190500" y="190500"/>
              <a:ext cx="2152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4A3B8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Total Agents</a:t>
              </a:r>
              <a:endParaRPr sz="1100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42" name="Google Shape;142;p18"/>
            <p:cNvSpPr txBox="1"/>
            <p:nvPr/>
          </p:nvSpPr>
          <p:spPr>
            <a:xfrm>
              <a:off x="190500" y="476250"/>
              <a:ext cx="2152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F8FAFC"/>
                  </a:solidFill>
                  <a:latin typeface="Roboto"/>
                  <a:ea typeface="Roboto"/>
                  <a:cs typeface="Roboto"/>
                  <a:sym typeface="Roboto"/>
                </a:rPr>
                <a:t>50</a:t>
              </a:r>
              <a:endParaRPr b="1" sz="26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3" name="Google Shape;143;p18"/>
          <p:cNvGrpSpPr/>
          <p:nvPr/>
        </p:nvGrpSpPr>
        <p:grpSpPr>
          <a:xfrm>
            <a:off x="3305175" y="1524000"/>
            <a:ext cx="2533800" cy="1428900"/>
            <a:chOff x="0" y="0"/>
            <a:chExt cx="2533800" cy="1428900"/>
          </a:xfrm>
        </p:grpSpPr>
        <p:sp>
          <p:nvSpPr>
            <p:cNvPr id="144" name="Google Shape;144;p18"/>
            <p:cNvSpPr/>
            <p:nvPr/>
          </p:nvSpPr>
          <p:spPr>
            <a:xfrm>
              <a:off x="0" y="0"/>
              <a:ext cx="25338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0" y="0"/>
              <a:ext cx="2533800" cy="381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8"/>
            <p:cNvSpPr txBox="1"/>
            <p:nvPr/>
          </p:nvSpPr>
          <p:spPr>
            <a:xfrm>
              <a:off x="190500" y="190500"/>
              <a:ext cx="2152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4A3B8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Total number of Tickets</a:t>
              </a:r>
              <a:endParaRPr sz="1100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47" name="Google Shape;147;p18"/>
            <p:cNvSpPr txBox="1"/>
            <p:nvPr/>
          </p:nvSpPr>
          <p:spPr>
            <a:xfrm>
              <a:off x="190500" y="476250"/>
              <a:ext cx="2152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F8FAFC"/>
                  </a:solidFill>
                  <a:latin typeface="Roboto"/>
                  <a:ea typeface="Roboto"/>
                  <a:cs typeface="Roboto"/>
                  <a:sym typeface="Roboto"/>
                </a:rPr>
                <a:t>97,498</a:t>
              </a:r>
              <a:endParaRPr b="1" sz="26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8" name="Google Shape;148;p18"/>
          <p:cNvGrpSpPr/>
          <p:nvPr/>
        </p:nvGrpSpPr>
        <p:grpSpPr>
          <a:xfrm>
            <a:off x="6134100" y="1524000"/>
            <a:ext cx="2533800" cy="1428900"/>
            <a:chOff x="0" y="0"/>
            <a:chExt cx="2533800" cy="1428900"/>
          </a:xfrm>
        </p:grpSpPr>
        <p:sp>
          <p:nvSpPr>
            <p:cNvPr id="149" name="Google Shape;149;p18"/>
            <p:cNvSpPr/>
            <p:nvPr/>
          </p:nvSpPr>
          <p:spPr>
            <a:xfrm>
              <a:off x="0" y="0"/>
              <a:ext cx="25338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0" y="0"/>
              <a:ext cx="2533800" cy="381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8"/>
            <p:cNvSpPr txBox="1"/>
            <p:nvPr/>
          </p:nvSpPr>
          <p:spPr>
            <a:xfrm>
              <a:off x="190500" y="190500"/>
              <a:ext cx="2152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4A3B8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Average daily ticket volume</a:t>
              </a:r>
              <a:endParaRPr sz="1100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190500" y="476250"/>
              <a:ext cx="2152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F8FAFC"/>
                  </a:solidFill>
                  <a:latin typeface="Roboto"/>
                  <a:ea typeface="Roboto"/>
                  <a:cs typeface="Roboto"/>
                  <a:sym typeface="Roboto"/>
                </a:rPr>
                <a:t>53</a:t>
              </a:r>
              <a:endParaRPr b="1" sz="26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3" name="Google Shape;153;p18"/>
          <p:cNvGrpSpPr/>
          <p:nvPr/>
        </p:nvGrpSpPr>
        <p:grpSpPr>
          <a:xfrm>
            <a:off x="476250" y="3143250"/>
            <a:ext cx="2533800" cy="1428900"/>
            <a:chOff x="0" y="0"/>
            <a:chExt cx="2533800" cy="1428900"/>
          </a:xfrm>
        </p:grpSpPr>
        <p:sp>
          <p:nvSpPr>
            <p:cNvPr id="154" name="Google Shape;154;p18"/>
            <p:cNvSpPr/>
            <p:nvPr/>
          </p:nvSpPr>
          <p:spPr>
            <a:xfrm>
              <a:off x="0" y="0"/>
              <a:ext cx="25338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0" y="0"/>
              <a:ext cx="2533800" cy="381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 txBox="1"/>
            <p:nvPr/>
          </p:nvSpPr>
          <p:spPr>
            <a:xfrm>
              <a:off x="190500" y="190500"/>
              <a:ext cx="2152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4A3B8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Average Resolution Time</a:t>
              </a:r>
              <a:endParaRPr sz="1100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190500" y="476250"/>
              <a:ext cx="2152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F8FAFC"/>
                  </a:solidFill>
                  <a:latin typeface="Roboto"/>
                  <a:ea typeface="Roboto"/>
                  <a:cs typeface="Roboto"/>
                  <a:sym typeface="Roboto"/>
                </a:rPr>
                <a:t>4.6 days</a:t>
              </a:r>
              <a:endParaRPr b="1" sz="26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8" name="Google Shape;158;p18"/>
          <p:cNvGrpSpPr/>
          <p:nvPr/>
        </p:nvGrpSpPr>
        <p:grpSpPr>
          <a:xfrm>
            <a:off x="3305175" y="3143250"/>
            <a:ext cx="2533800" cy="1428900"/>
            <a:chOff x="0" y="0"/>
            <a:chExt cx="2533800" cy="1428900"/>
          </a:xfrm>
        </p:grpSpPr>
        <p:sp>
          <p:nvSpPr>
            <p:cNvPr id="159" name="Google Shape;159;p18"/>
            <p:cNvSpPr/>
            <p:nvPr/>
          </p:nvSpPr>
          <p:spPr>
            <a:xfrm>
              <a:off x="0" y="0"/>
              <a:ext cx="25338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8"/>
            <p:cNvSpPr/>
            <p:nvPr/>
          </p:nvSpPr>
          <p:spPr>
            <a:xfrm>
              <a:off x="0" y="0"/>
              <a:ext cx="2533800" cy="38100"/>
            </a:xfrm>
            <a:prstGeom prst="roundRect">
              <a:avLst>
                <a:gd fmla="val 50000" name="adj"/>
              </a:avLst>
            </a:prstGeom>
            <a:solidFill>
              <a:srgbClr val="EC48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8"/>
            <p:cNvSpPr txBox="1"/>
            <p:nvPr/>
          </p:nvSpPr>
          <p:spPr>
            <a:xfrm>
              <a:off x="190500" y="190500"/>
              <a:ext cx="2152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4A3B8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Average Satisfaction Rate</a:t>
              </a:r>
              <a:endParaRPr sz="1100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62" name="Google Shape;162;p18"/>
            <p:cNvSpPr txBox="1"/>
            <p:nvPr/>
          </p:nvSpPr>
          <p:spPr>
            <a:xfrm>
              <a:off x="190500" y="476250"/>
              <a:ext cx="2152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F8FAFC"/>
                  </a:solidFill>
                  <a:latin typeface="Roboto"/>
                  <a:ea typeface="Roboto"/>
                  <a:cs typeface="Roboto"/>
                  <a:sym typeface="Roboto"/>
                </a:rPr>
                <a:t>4.1</a:t>
              </a:r>
              <a:endParaRPr b="1" sz="26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3" name="Google Shape;163;p18"/>
          <p:cNvGrpSpPr/>
          <p:nvPr/>
        </p:nvGrpSpPr>
        <p:grpSpPr>
          <a:xfrm>
            <a:off x="6134100" y="3143250"/>
            <a:ext cx="2533800" cy="1428900"/>
            <a:chOff x="0" y="0"/>
            <a:chExt cx="2533800" cy="1428900"/>
          </a:xfrm>
        </p:grpSpPr>
        <p:sp>
          <p:nvSpPr>
            <p:cNvPr id="164" name="Google Shape;164;p18"/>
            <p:cNvSpPr/>
            <p:nvPr/>
          </p:nvSpPr>
          <p:spPr>
            <a:xfrm>
              <a:off x="0" y="0"/>
              <a:ext cx="2533800" cy="14289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0" y="0"/>
              <a:ext cx="2533800" cy="381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8"/>
            <p:cNvSpPr txBox="1"/>
            <p:nvPr/>
          </p:nvSpPr>
          <p:spPr>
            <a:xfrm>
              <a:off x="190500" y="190500"/>
              <a:ext cx="2152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4A3B8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Average Tickets Per Agents</a:t>
              </a:r>
              <a:endParaRPr sz="1100">
                <a:solidFill>
                  <a:srgbClr val="94A3B8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67" name="Google Shape;167;p18"/>
            <p:cNvSpPr txBox="1"/>
            <p:nvPr/>
          </p:nvSpPr>
          <p:spPr>
            <a:xfrm>
              <a:off x="190500" y="476250"/>
              <a:ext cx="2152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F8FAFC"/>
                  </a:solidFill>
                  <a:latin typeface="Roboto"/>
                  <a:ea typeface="Roboto"/>
                  <a:cs typeface="Roboto"/>
                  <a:sym typeface="Roboto"/>
                </a:rPr>
                <a:t>1950</a:t>
              </a:r>
              <a:endParaRPr b="1" sz="26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close/>
              </a:path>
            </a:pathLst>
          </a:custGeom>
          <a:solidFill>
            <a:srgbClr val="351C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" name="Google Shape;173;p19"/>
          <p:cNvGrpSpPr/>
          <p:nvPr/>
        </p:nvGrpSpPr>
        <p:grpSpPr>
          <a:xfrm>
            <a:off x="476250" y="333375"/>
            <a:ext cx="1714500" cy="247800"/>
            <a:chOff x="0" y="0"/>
            <a:chExt cx="1714500" cy="247800"/>
          </a:xfrm>
        </p:grpSpPr>
        <p:sp>
          <p:nvSpPr>
            <p:cNvPr id="174" name="Google Shape;174;p19"/>
            <p:cNvSpPr/>
            <p:nvPr/>
          </p:nvSpPr>
          <p:spPr>
            <a:xfrm>
              <a:off x="0" y="0"/>
              <a:ext cx="1714500" cy="2478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9"/>
            <p:cNvSpPr txBox="1"/>
            <p:nvPr/>
          </p:nvSpPr>
          <p:spPr>
            <a:xfrm>
              <a:off x="0" y="0"/>
              <a:ext cx="1714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3B82F6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VOLUME ANALYSIS</a:t>
              </a:r>
              <a:endParaRPr sz="900">
                <a:solidFill>
                  <a:srgbClr val="3B82F6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176" name="Google Shape;176;p19"/>
          <p:cNvSpPr txBox="1"/>
          <p:nvPr/>
        </p:nvSpPr>
        <p:spPr>
          <a:xfrm>
            <a:off x="476250" y="66675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Volume of Tickets over Time (years)</a:t>
            </a:r>
            <a:endParaRPr b="1" sz="2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7" name="Google Shape;177;p19"/>
          <p:cNvGrpSpPr/>
          <p:nvPr/>
        </p:nvGrpSpPr>
        <p:grpSpPr>
          <a:xfrm>
            <a:off x="476250" y="1428750"/>
            <a:ext cx="3850243" cy="3238500"/>
            <a:chOff x="0" y="0"/>
            <a:chExt cx="4048200" cy="3238500"/>
          </a:xfrm>
        </p:grpSpPr>
        <p:sp>
          <p:nvSpPr>
            <p:cNvPr id="178" name="Google Shape;178;p19"/>
            <p:cNvSpPr/>
            <p:nvPr/>
          </p:nvSpPr>
          <p:spPr>
            <a:xfrm>
              <a:off x="0" y="0"/>
              <a:ext cx="40482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9"/>
            <p:cNvSpPr/>
            <p:nvPr/>
          </p:nvSpPr>
          <p:spPr>
            <a:xfrm>
              <a:off x="0" y="0"/>
              <a:ext cx="40482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0" y="476400"/>
              <a:ext cx="39162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Tickets volume</a:t>
              </a: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grew steadily from 13,051 in 2016 to 29,088 in 2020, a increase of about 123% over the 5 years period.</a:t>
              </a:r>
              <a:b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A sharp rise in ticket volume </a:t>
              </a: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were noticed in between  201</a:t>
              </a: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9</a:t>
              </a: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and 20</a:t>
              </a: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20</a:t>
              </a: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, the highest surge recorded in ticket volume since 2016.</a:t>
              </a:r>
              <a:b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Volume of Tickets increases but number of agents has remained constant over the years, resulting in a significantly higher workload per agent.</a:t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1" name="Google Shape;181;p19"/>
          <p:cNvGrpSpPr/>
          <p:nvPr/>
        </p:nvGrpSpPr>
        <p:grpSpPr>
          <a:xfrm>
            <a:off x="4501825" y="1428750"/>
            <a:ext cx="4165856" cy="3238500"/>
            <a:chOff x="0" y="0"/>
            <a:chExt cx="3952800" cy="3238500"/>
          </a:xfrm>
        </p:grpSpPr>
        <p:sp>
          <p:nvSpPr>
            <p:cNvPr id="182" name="Google Shape;182;p19"/>
            <p:cNvSpPr/>
            <p:nvPr/>
          </p:nvSpPr>
          <p:spPr>
            <a:xfrm>
              <a:off x="0" y="0"/>
              <a:ext cx="39528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9"/>
            <p:cNvSpPr/>
            <p:nvPr/>
          </p:nvSpPr>
          <p:spPr>
            <a:xfrm>
              <a:off x="0" y="0"/>
              <a:ext cx="3952800" cy="381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84" name="Google Shape;1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1825" y="2088726"/>
            <a:ext cx="4165851" cy="1918543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5" name="Google Shape;185;p19"/>
          <p:cNvSpPr txBox="1"/>
          <p:nvPr/>
        </p:nvSpPr>
        <p:spPr>
          <a:xfrm>
            <a:off x="734255" y="1619250"/>
            <a:ext cx="3532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B82F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Key Findings</a:t>
            </a:r>
            <a:endParaRPr sz="1200">
              <a:solidFill>
                <a:srgbClr val="3B82F6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close/>
              </a:path>
            </a:pathLst>
          </a:custGeom>
          <a:solidFill>
            <a:srgbClr val="351C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0"/>
          <p:cNvGrpSpPr/>
          <p:nvPr/>
        </p:nvGrpSpPr>
        <p:grpSpPr>
          <a:xfrm>
            <a:off x="476250" y="333375"/>
            <a:ext cx="1714500" cy="247800"/>
            <a:chOff x="0" y="0"/>
            <a:chExt cx="1714500" cy="247800"/>
          </a:xfrm>
        </p:grpSpPr>
        <p:sp>
          <p:nvSpPr>
            <p:cNvPr id="192" name="Google Shape;192;p20"/>
            <p:cNvSpPr/>
            <p:nvPr/>
          </p:nvSpPr>
          <p:spPr>
            <a:xfrm>
              <a:off x="0" y="0"/>
              <a:ext cx="1714500" cy="2478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93" name="Google Shape;193;p20"/>
            <p:cNvSpPr txBox="1"/>
            <p:nvPr/>
          </p:nvSpPr>
          <p:spPr>
            <a:xfrm>
              <a:off x="0" y="0"/>
              <a:ext cx="1714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3B82F6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MONTHLY ANALYSIS</a:t>
              </a:r>
              <a:endParaRPr sz="900">
                <a:solidFill>
                  <a:srgbClr val="3B82F6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194" name="Google Shape;194;p20"/>
          <p:cNvSpPr txBox="1"/>
          <p:nvPr/>
        </p:nvSpPr>
        <p:spPr>
          <a:xfrm>
            <a:off x="476250" y="66675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Peak &amp; Off-Peak Months Analysis</a:t>
            </a:r>
            <a:endParaRPr b="1"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5" name="Google Shape;195;p20"/>
          <p:cNvGrpSpPr/>
          <p:nvPr/>
        </p:nvGrpSpPr>
        <p:grpSpPr>
          <a:xfrm>
            <a:off x="476250" y="1428750"/>
            <a:ext cx="3924605" cy="3238500"/>
            <a:chOff x="0" y="0"/>
            <a:chExt cx="4572000" cy="3238500"/>
          </a:xfrm>
        </p:grpSpPr>
        <p:sp>
          <p:nvSpPr>
            <p:cNvPr id="196" name="Google Shape;196;p20"/>
            <p:cNvSpPr/>
            <p:nvPr/>
          </p:nvSpPr>
          <p:spPr>
            <a:xfrm>
              <a:off x="0" y="0"/>
              <a:ext cx="45720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0" y="0"/>
              <a:ext cx="45720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0"/>
            <p:cNvSpPr txBox="1"/>
            <p:nvPr/>
          </p:nvSpPr>
          <p:spPr>
            <a:xfrm>
              <a:off x="228600" y="190500"/>
              <a:ext cx="411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B82F6"/>
                  </a:solidFill>
                  <a:latin typeface="Roboto"/>
                  <a:ea typeface="Roboto"/>
                  <a:cs typeface="Roboto"/>
                  <a:sym typeface="Roboto"/>
                </a:rPr>
                <a:t>Key Findings</a:t>
              </a:r>
              <a:endParaRPr b="1" sz="1200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" name="Google Shape;199;p20"/>
            <p:cNvSpPr txBox="1"/>
            <p:nvPr/>
          </p:nvSpPr>
          <p:spPr>
            <a:xfrm>
              <a:off x="0" y="531400"/>
              <a:ext cx="4470600" cy="251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200"/>
                <a:buFont typeface="Inter"/>
                <a:buChar char="●"/>
              </a:pPr>
              <a:r>
                <a:rPr lang="en" sz="1200">
                  <a:solidFill>
                    <a:srgbClr val="F8FAFC"/>
                  </a:solidFill>
                  <a:latin typeface="Roboto"/>
                  <a:ea typeface="Roboto"/>
                  <a:cs typeface="Roboto"/>
                  <a:sym typeface="Roboto"/>
                </a:rPr>
                <a:t>Peak months </a:t>
              </a:r>
              <a:r>
                <a:rPr lang="en" sz="12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(&gt;8,400 tickets </a:t>
              </a:r>
              <a:r>
                <a:rPr lang="en" sz="12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across the 5 years</a:t>
              </a:r>
              <a:r>
                <a:rPr lang="en" sz="12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):</a:t>
              </a:r>
              <a:r>
                <a:rPr lang="en" sz="1200">
                  <a:solidFill>
                    <a:srgbClr val="F8FAFC"/>
                  </a:solidFill>
                  <a:latin typeface="Roboto"/>
                  <a:ea typeface="Roboto"/>
                  <a:cs typeface="Roboto"/>
                  <a:sym typeface="Roboto"/>
                </a:rPr>
                <a:t> August, October, and December.</a:t>
              </a:r>
              <a:endParaRPr sz="12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F8FAFC"/>
                </a:buClr>
                <a:buSzPts val="1200"/>
                <a:buFont typeface="Inter"/>
                <a:buChar char="●"/>
              </a:pPr>
              <a:r>
                <a:rPr lang="en" sz="1200">
                  <a:solidFill>
                    <a:srgbClr val="F8FAFC"/>
                  </a:solidFill>
                  <a:latin typeface="Roboto"/>
                  <a:ea typeface="Roboto"/>
                  <a:cs typeface="Roboto"/>
                  <a:sym typeface="Roboto"/>
                </a:rPr>
                <a:t>Off-peak months </a:t>
              </a:r>
              <a:r>
                <a:rPr lang="en" sz="12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(&lt;8,000 tickets across the 5 years):</a:t>
              </a:r>
              <a:r>
                <a:rPr lang="en" sz="1200">
                  <a:solidFill>
                    <a:srgbClr val="F8FAFC"/>
                  </a:solidFill>
                  <a:latin typeface="Roboto"/>
                  <a:ea typeface="Roboto"/>
                  <a:cs typeface="Roboto"/>
                  <a:sym typeface="Roboto"/>
                </a:rPr>
                <a:t> January, February, and April.</a:t>
              </a:r>
              <a:endParaRPr sz="12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800"/>
                </a:spcBef>
                <a:spcAft>
                  <a:spcPts val="800"/>
                </a:spcAft>
                <a:buClr>
                  <a:srgbClr val="F8FAFC"/>
                </a:buClr>
                <a:buSzPts val="1200"/>
                <a:buFont typeface="Inter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The second half of the year is busier: H2 totals about 49,900 tickets </a:t>
              </a: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verses</a:t>
              </a: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about 47,600 in H1, roughly 5% higher.</a:t>
              </a:r>
              <a:endParaRPr sz="120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0" name="Google Shape;200;p20"/>
          <p:cNvGrpSpPr/>
          <p:nvPr/>
        </p:nvGrpSpPr>
        <p:grpSpPr>
          <a:xfrm>
            <a:off x="3930169" y="1428750"/>
            <a:ext cx="4737792" cy="3238500"/>
            <a:chOff x="-481396" y="0"/>
            <a:chExt cx="3720000" cy="3238500"/>
          </a:xfrm>
        </p:grpSpPr>
        <p:sp>
          <p:nvSpPr>
            <p:cNvPr id="201" name="Google Shape;201;p20"/>
            <p:cNvSpPr/>
            <p:nvPr/>
          </p:nvSpPr>
          <p:spPr>
            <a:xfrm>
              <a:off x="0" y="0"/>
              <a:ext cx="32385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0" y="0"/>
              <a:ext cx="3238500" cy="381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0"/>
            <p:cNvSpPr txBox="1"/>
            <p:nvPr/>
          </p:nvSpPr>
          <p:spPr>
            <a:xfrm>
              <a:off x="-481396" y="0"/>
              <a:ext cx="3720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2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204" name="Google Shape;2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8" y="2041638"/>
            <a:ext cx="4095918" cy="201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close/>
              </a:path>
            </a:pathLst>
          </a:custGeom>
          <a:solidFill>
            <a:srgbClr val="351C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" name="Google Shape;210;p21"/>
          <p:cNvGrpSpPr/>
          <p:nvPr/>
        </p:nvGrpSpPr>
        <p:grpSpPr>
          <a:xfrm>
            <a:off x="476250" y="333375"/>
            <a:ext cx="1714500" cy="247800"/>
            <a:chOff x="0" y="0"/>
            <a:chExt cx="1714500" cy="247800"/>
          </a:xfrm>
        </p:grpSpPr>
        <p:sp>
          <p:nvSpPr>
            <p:cNvPr id="211" name="Google Shape;211;p21"/>
            <p:cNvSpPr/>
            <p:nvPr/>
          </p:nvSpPr>
          <p:spPr>
            <a:xfrm>
              <a:off x="0" y="0"/>
              <a:ext cx="1714500" cy="2478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0" y="0"/>
              <a:ext cx="1714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3B82F6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TICKET ANALYSIS</a:t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213" name="Google Shape;213;p21"/>
          <p:cNvSpPr txBox="1"/>
          <p:nvPr/>
        </p:nvSpPr>
        <p:spPr>
          <a:xfrm>
            <a:off x="476250" y="66675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Distribution of Tickets by Severity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4" name="Google Shape;214;p21"/>
          <p:cNvGrpSpPr/>
          <p:nvPr/>
        </p:nvGrpSpPr>
        <p:grpSpPr>
          <a:xfrm>
            <a:off x="476250" y="1428750"/>
            <a:ext cx="3912260" cy="3238500"/>
            <a:chOff x="0" y="0"/>
            <a:chExt cx="4572000" cy="3238500"/>
          </a:xfrm>
        </p:grpSpPr>
        <p:sp>
          <p:nvSpPr>
            <p:cNvPr id="215" name="Google Shape;215;p21"/>
            <p:cNvSpPr/>
            <p:nvPr/>
          </p:nvSpPr>
          <p:spPr>
            <a:xfrm>
              <a:off x="0" y="0"/>
              <a:ext cx="45720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0" y="0"/>
              <a:ext cx="45720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1"/>
            <p:cNvSpPr txBox="1"/>
            <p:nvPr/>
          </p:nvSpPr>
          <p:spPr>
            <a:xfrm>
              <a:off x="228600" y="228600"/>
              <a:ext cx="411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3B82F6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Key Findings</a:t>
              </a:r>
              <a:endParaRPr>
                <a:solidFill>
                  <a:srgbClr val="3B82F6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218" name="Google Shape;218;p21"/>
            <p:cNvSpPr txBox="1"/>
            <p:nvPr/>
          </p:nvSpPr>
          <p:spPr>
            <a:xfrm>
              <a:off x="0" y="514500"/>
              <a:ext cx="4440900" cy="23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The average customer satisfaction score is about 4.10 out of 5.</a:t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Arial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Customers who gave a rating of 4 or 5 make up 80.3% of responses (78,332 tickets), representing the share of satisfied customers.</a:t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Ratings of 1 or 2 account for 12.2% of responses (11,884 tickets), while the neutral rating of 3 accounts for the remaining 7.5% (7,282 tickets). </a:t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600"/>
                </a:spcAft>
                <a:buNone/>
              </a:pPr>
              <a:r>
                <a:t/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9" name="Google Shape;219;p21"/>
          <p:cNvGrpSpPr/>
          <p:nvPr/>
        </p:nvGrpSpPr>
        <p:grpSpPr>
          <a:xfrm>
            <a:off x="4572003" y="1424000"/>
            <a:ext cx="4100726" cy="3248100"/>
            <a:chOff x="-4762" y="-4762"/>
            <a:chExt cx="3248100" cy="3248100"/>
          </a:xfrm>
        </p:grpSpPr>
        <p:pic>
          <p:nvPicPr>
            <p:cNvPr id="220" name="Google Shape;22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4762" y="-4762"/>
              <a:ext cx="3248100" cy="324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21"/>
            <p:cNvSpPr/>
            <p:nvPr/>
          </p:nvSpPr>
          <p:spPr>
            <a:xfrm>
              <a:off x="0" y="0"/>
              <a:ext cx="3238500" cy="381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1"/>
            <p:cNvSpPr txBox="1"/>
            <p:nvPr/>
          </p:nvSpPr>
          <p:spPr>
            <a:xfrm>
              <a:off x="0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Insert Image Here</a:t>
              </a:r>
              <a:endParaRPr b="0" sz="12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223" name="Google Shape;2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032800"/>
            <a:ext cx="4100724" cy="2030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close/>
              </a:path>
            </a:pathLst>
          </a:custGeom>
          <a:solidFill>
            <a:srgbClr val="351C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" name="Google Shape;229;p22"/>
          <p:cNvGrpSpPr/>
          <p:nvPr/>
        </p:nvGrpSpPr>
        <p:grpSpPr>
          <a:xfrm>
            <a:off x="476250" y="333375"/>
            <a:ext cx="1714500" cy="247800"/>
            <a:chOff x="0" y="0"/>
            <a:chExt cx="1714500" cy="247800"/>
          </a:xfrm>
        </p:grpSpPr>
        <p:sp>
          <p:nvSpPr>
            <p:cNvPr id="230" name="Google Shape;230;p22"/>
            <p:cNvSpPr/>
            <p:nvPr/>
          </p:nvSpPr>
          <p:spPr>
            <a:xfrm>
              <a:off x="0" y="0"/>
              <a:ext cx="1714500" cy="2478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31" name="Google Shape;231;p22"/>
            <p:cNvSpPr txBox="1"/>
            <p:nvPr/>
          </p:nvSpPr>
          <p:spPr>
            <a:xfrm>
              <a:off x="0" y="0"/>
              <a:ext cx="1714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3B82F6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CATEGORY ANALYSIS</a:t>
              </a:r>
              <a:endParaRPr sz="900">
                <a:solidFill>
                  <a:srgbClr val="3B82F6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232" name="Google Shape;232;p22"/>
          <p:cNvSpPr txBox="1"/>
          <p:nvPr/>
        </p:nvSpPr>
        <p:spPr>
          <a:xfrm>
            <a:off x="476250" y="66675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Volume of Tickets By Requested Category</a:t>
            </a:r>
            <a:endParaRPr b="1"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33" name="Google Shape;233;p22"/>
          <p:cNvGrpSpPr/>
          <p:nvPr/>
        </p:nvGrpSpPr>
        <p:grpSpPr>
          <a:xfrm>
            <a:off x="476250" y="1428750"/>
            <a:ext cx="4095598" cy="3238500"/>
            <a:chOff x="0" y="0"/>
            <a:chExt cx="4572000" cy="3238500"/>
          </a:xfrm>
        </p:grpSpPr>
        <p:sp>
          <p:nvSpPr>
            <p:cNvPr id="234" name="Google Shape;234;p22"/>
            <p:cNvSpPr/>
            <p:nvPr/>
          </p:nvSpPr>
          <p:spPr>
            <a:xfrm>
              <a:off x="0" y="0"/>
              <a:ext cx="45720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2"/>
            <p:cNvSpPr/>
            <p:nvPr/>
          </p:nvSpPr>
          <p:spPr>
            <a:xfrm>
              <a:off x="0" y="0"/>
              <a:ext cx="45720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2"/>
            <p:cNvSpPr txBox="1"/>
            <p:nvPr/>
          </p:nvSpPr>
          <p:spPr>
            <a:xfrm>
              <a:off x="228600" y="228600"/>
              <a:ext cx="411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B82F6"/>
                  </a:solidFill>
                  <a:latin typeface="Roboto"/>
                  <a:ea typeface="Roboto"/>
                  <a:cs typeface="Roboto"/>
                  <a:sym typeface="Roboto"/>
                </a:rPr>
                <a:t>Key Findings</a:t>
              </a:r>
              <a:endParaRPr b="1" sz="1200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7" name="Google Shape;237;p22"/>
            <p:cNvSpPr txBox="1"/>
            <p:nvPr/>
          </p:nvSpPr>
          <p:spPr>
            <a:xfrm>
              <a:off x="25285" y="569000"/>
              <a:ext cx="4412700" cy="24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Inter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System issues are the largest driver of demand. At 40%, System tickets alone account for two out of every five requests, more than any other category.</a:t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Inter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Hardware is the lowest in ticket volume(about 10%)  but they often take longer to resolve, so volume alone understates their effort </a:t>
              </a: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800"/>
                </a:spcBef>
                <a:spcAft>
                  <a:spcPts val="800"/>
                </a:spcAft>
                <a:buClr>
                  <a:srgbClr val="F3F3F3"/>
                </a:buClr>
                <a:buSzPts val="1200"/>
                <a:buFont typeface="Inter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Software tickets are a mid-sized share (20%). This is roughly double Hardware, which suggests recurring application issues </a:t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8" name="Google Shape;238;p22"/>
          <p:cNvGrpSpPr/>
          <p:nvPr/>
        </p:nvGrpSpPr>
        <p:grpSpPr>
          <a:xfrm>
            <a:off x="4852725" y="1428750"/>
            <a:ext cx="3814953" cy="3238500"/>
            <a:chOff x="0" y="0"/>
            <a:chExt cx="3238500" cy="3238500"/>
          </a:xfrm>
        </p:grpSpPr>
        <p:sp>
          <p:nvSpPr>
            <p:cNvPr id="239" name="Google Shape;239;p22"/>
            <p:cNvSpPr/>
            <p:nvPr/>
          </p:nvSpPr>
          <p:spPr>
            <a:xfrm>
              <a:off x="0" y="0"/>
              <a:ext cx="32385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2"/>
            <p:cNvSpPr/>
            <p:nvPr/>
          </p:nvSpPr>
          <p:spPr>
            <a:xfrm>
              <a:off x="0" y="0"/>
              <a:ext cx="3238500" cy="381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2"/>
            <p:cNvSpPr txBox="1"/>
            <p:nvPr/>
          </p:nvSpPr>
          <p:spPr>
            <a:xfrm>
              <a:off x="0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2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242" name="Google Shape;2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2725" y="1730515"/>
            <a:ext cx="3814950" cy="2634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close/>
              </a:path>
            </a:pathLst>
          </a:custGeom>
          <a:solidFill>
            <a:srgbClr val="351C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8" name="Google Shape;248;p23"/>
          <p:cNvGrpSpPr/>
          <p:nvPr/>
        </p:nvGrpSpPr>
        <p:grpSpPr>
          <a:xfrm>
            <a:off x="476250" y="333375"/>
            <a:ext cx="1714500" cy="247800"/>
            <a:chOff x="0" y="0"/>
            <a:chExt cx="1714500" cy="247800"/>
          </a:xfrm>
        </p:grpSpPr>
        <p:sp>
          <p:nvSpPr>
            <p:cNvPr id="249" name="Google Shape;249;p23"/>
            <p:cNvSpPr/>
            <p:nvPr/>
          </p:nvSpPr>
          <p:spPr>
            <a:xfrm>
              <a:off x="0" y="0"/>
              <a:ext cx="1714500" cy="2478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3"/>
            <p:cNvSpPr txBox="1"/>
            <p:nvPr/>
          </p:nvSpPr>
          <p:spPr>
            <a:xfrm>
              <a:off x="0" y="0"/>
              <a:ext cx="1714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PRIORITY ANALYSIS</a:t>
              </a:r>
              <a:endParaRPr b="0" sz="900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251" name="Google Shape;251;p23"/>
          <p:cNvSpPr txBox="1"/>
          <p:nvPr/>
        </p:nvSpPr>
        <p:spPr>
          <a:xfrm>
            <a:off x="476250" y="66675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Ticket Volume by Priority Level</a:t>
            </a:r>
            <a:endParaRPr b="0" sz="20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52" name="Google Shape;252;p23"/>
          <p:cNvGrpSpPr/>
          <p:nvPr/>
        </p:nvGrpSpPr>
        <p:grpSpPr>
          <a:xfrm>
            <a:off x="476250" y="1428750"/>
            <a:ext cx="4095598" cy="3238500"/>
            <a:chOff x="0" y="0"/>
            <a:chExt cx="4572000" cy="3238500"/>
          </a:xfrm>
        </p:grpSpPr>
        <p:sp>
          <p:nvSpPr>
            <p:cNvPr id="253" name="Google Shape;253;p23"/>
            <p:cNvSpPr/>
            <p:nvPr/>
          </p:nvSpPr>
          <p:spPr>
            <a:xfrm>
              <a:off x="0" y="0"/>
              <a:ext cx="45720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3"/>
            <p:cNvSpPr/>
            <p:nvPr/>
          </p:nvSpPr>
          <p:spPr>
            <a:xfrm>
              <a:off x="0" y="0"/>
              <a:ext cx="45720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3"/>
            <p:cNvSpPr txBox="1"/>
            <p:nvPr/>
          </p:nvSpPr>
          <p:spPr>
            <a:xfrm>
              <a:off x="228600" y="228600"/>
              <a:ext cx="411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Key Findings</a:t>
              </a:r>
              <a:endParaRPr b="1" sz="12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6" name="Google Shape;256;p23"/>
            <p:cNvSpPr txBox="1"/>
            <p:nvPr/>
          </p:nvSpPr>
          <p:spPr>
            <a:xfrm>
              <a:off x="56849" y="514500"/>
              <a:ext cx="42867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Arial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High priority is the biggest slice. More than 1 in 3 tickets (36.46%) are marked High, which is about double Low or Mid.</a:t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1200"/>
                </a:spcBef>
                <a:spcAft>
                  <a:spcPts val="1200"/>
                </a:spcAft>
                <a:buClr>
                  <a:srgbClr val="F3F3F3"/>
                </a:buClr>
                <a:buSzPts val="1200"/>
                <a:buFont typeface="Arial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Many tickets have no priority at all. Around 30% are Unassigned, Unassigned may hide the true priority mix.. </a:t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7" name="Google Shape;257;p23"/>
          <p:cNvGrpSpPr/>
          <p:nvPr/>
        </p:nvGrpSpPr>
        <p:grpSpPr>
          <a:xfrm>
            <a:off x="4827675" y="1428750"/>
            <a:ext cx="3839889" cy="3238500"/>
            <a:chOff x="0" y="0"/>
            <a:chExt cx="3238500" cy="3238500"/>
          </a:xfrm>
        </p:grpSpPr>
        <p:sp>
          <p:nvSpPr>
            <p:cNvPr id="258" name="Google Shape;258;p23"/>
            <p:cNvSpPr/>
            <p:nvPr/>
          </p:nvSpPr>
          <p:spPr>
            <a:xfrm>
              <a:off x="0" y="0"/>
              <a:ext cx="32385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3"/>
            <p:cNvSpPr/>
            <p:nvPr/>
          </p:nvSpPr>
          <p:spPr>
            <a:xfrm>
              <a:off x="0" y="0"/>
              <a:ext cx="3238500" cy="381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60" name="Google Shape;26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7675" y="1642113"/>
            <a:ext cx="3839900" cy="2811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close/>
              </a:path>
            </a:pathLst>
          </a:custGeom>
          <a:solidFill>
            <a:srgbClr val="351C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6" name="Google Shape;266;p24"/>
          <p:cNvGrpSpPr/>
          <p:nvPr/>
        </p:nvGrpSpPr>
        <p:grpSpPr>
          <a:xfrm>
            <a:off x="476250" y="333375"/>
            <a:ext cx="1714500" cy="247800"/>
            <a:chOff x="0" y="0"/>
            <a:chExt cx="1714500" cy="247800"/>
          </a:xfrm>
        </p:grpSpPr>
        <p:sp>
          <p:nvSpPr>
            <p:cNvPr id="267" name="Google Shape;267;p24"/>
            <p:cNvSpPr/>
            <p:nvPr/>
          </p:nvSpPr>
          <p:spPr>
            <a:xfrm>
              <a:off x="0" y="0"/>
              <a:ext cx="1714500" cy="2478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68" name="Google Shape;268;p24"/>
            <p:cNvSpPr txBox="1"/>
            <p:nvPr/>
          </p:nvSpPr>
          <p:spPr>
            <a:xfrm>
              <a:off x="0" y="0"/>
              <a:ext cx="1714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3B82F6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CATEGORY ANALYSIS</a:t>
              </a:r>
              <a:endParaRPr sz="900">
                <a:solidFill>
                  <a:srgbClr val="3B82F6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269" name="Google Shape;269;p24"/>
          <p:cNvSpPr txBox="1"/>
          <p:nvPr/>
        </p:nvSpPr>
        <p:spPr>
          <a:xfrm>
            <a:off x="476250" y="66675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Average Resolution Time By Requested Category</a:t>
            </a:r>
            <a:endParaRPr b="1"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70" name="Google Shape;270;p24"/>
          <p:cNvGrpSpPr/>
          <p:nvPr/>
        </p:nvGrpSpPr>
        <p:grpSpPr>
          <a:xfrm>
            <a:off x="476250" y="1428750"/>
            <a:ext cx="3676800" cy="3238500"/>
            <a:chOff x="0" y="0"/>
            <a:chExt cx="3676800" cy="3238500"/>
          </a:xfrm>
        </p:grpSpPr>
        <p:sp>
          <p:nvSpPr>
            <p:cNvPr id="271" name="Google Shape;271;p24"/>
            <p:cNvSpPr/>
            <p:nvPr/>
          </p:nvSpPr>
          <p:spPr>
            <a:xfrm>
              <a:off x="0" y="0"/>
              <a:ext cx="36768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0" y="0"/>
              <a:ext cx="36768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4"/>
            <p:cNvSpPr txBox="1"/>
            <p:nvPr/>
          </p:nvSpPr>
          <p:spPr>
            <a:xfrm>
              <a:off x="228600" y="228600"/>
              <a:ext cx="3219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3B82F6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Key Findings</a:t>
              </a:r>
              <a:endParaRPr sz="1200">
                <a:solidFill>
                  <a:srgbClr val="3B82F6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274" name="Google Shape;274;p24"/>
            <p:cNvSpPr txBox="1"/>
            <p:nvPr/>
          </p:nvSpPr>
          <p:spPr>
            <a:xfrm>
              <a:off x="0" y="514500"/>
              <a:ext cx="3599400" cy="27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Hardware is the slowest category with highest average resolution time  (7.6 days). It is also the smallest category by ticket volume (about 10%).</a:t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System combines a high average (6.6 days) with the largest volume (40%). This makes it the most important category to improve.</a:t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Software sits in the middle (5.2 days on average), about 1.4 days below System and 2.4 days below Hardware. Login Access has the lowest average (0.3 days, about 7 hours). </a:t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800"/>
                </a:spcBef>
                <a:spcAft>
                  <a:spcPts val="80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The averages range from 0.3 to 7.6 days.</a:t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5" name="Google Shape;275;p24"/>
          <p:cNvGrpSpPr/>
          <p:nvPr/>
        </p:nvGrpSpPr>
        <p:grpSpPr>
          <a:xfrm>
            <a:off x="4381500" y="1428750"/>
            <a:ext cx="4286400" cy="3238500"/>
            <a:chOff x="0" y="0"/>
            <a:chExt cx="4286400" cy="3238500"/>
          </a:xfrm>
        </p:grpSpPr>
        <p:sp>
          <p:nvSpPr>
            <p:cNvPr id="276" name="Google Shape;276;p24"/>
            <p:cNvSpPr/>
            <p:nvPr/>
          </p:nvSpPr>
          <p:spPr>
            <a:xfrm>
              <a:off x="0" y="0"/>
              <a:ext cx="42864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0" y="0"/>
              <a:ext cx="4286400" cy="381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78" name="Google Shape;27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500" y="2145600"/>
            <a:ext cx="4286400" cy="1804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close/>
              </a:path>
            </a:pathLst>
          </a:custGeom>
          <a:solidFill>
            <a:srgbClr val="351C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4" name="Google Shape;284;p25"/>
          <p:cNvGrpSpPr/>
          <p:nvPr/>
        </p:nvGrpSpPr>
        <p:grpSpPr>
          <a:xfrm>
            <a:off x="476250" y="333375"/>
            <a:ext cx="1714500" cy="247800"/>
            <a:chOff x="0" y="0"/>
            <a:chExt cx="1714500" cy="247800"/>
          </a:xfrm>
        </p:grpSpPr>
        <p:sp>
          <p:nvSpPr>
            <p:cNvPr id="285" name="Google Shape;285;p25"/>
            <p:cNvSpPr/>
            <p:nvPr/>
          </p:nvSpPr>
          <p:spPr>
            <a:xfrm>
              <a:off x="0" y="0"/>
              <a:ext cx="1714500" cy="2478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86" name="Google Shape;286;p25"/>
            <p:cNvSpPr txBox="1"/>
            <p:nvPr/>
          </p:nvSpPr>
          <p:spPr>
            <a:xfrm>
              <a:off x="0" y="0"/>
              <a:ext cx="1714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3B82F6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DEMOGRAPHIC ANALYSIS</a:t>
              </a:r>
              <a:endParaRPr sz="900">
                <a:solidFill>
                  <a:srgbClr val="3B82F6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287" name="Google Shape;287;p25"/>
          <p:cNvSpPr txBox="1"/>
          <p:nvPr/>
        </p:nvSpPr>
        <p:spPr>
          <a:xfrm>
            <a:off x="476250" y="66675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Average Satisfaction Rate By Age Group</a:t>
            </a:r>
            <a:endParaRPr b="1"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88" name="Google Shape;288;p25"/>
          <p:cNvGrpSpPr/>
          <p:nvPr/>
        </p:nvGrpSpPr>
        <p:grpSpPr>
          <a:xfrm>
            <a:off x="476250" y="1428750"/>
            <a:ext cx="3676800" cy="3238500"/>
            <a:chOff x="0" y="0"/>
            <a:chExt cx="3676800" cy="3238500"/>
          </a:xfrm>
        </p:grpSpPr>
        <p:sp>
          <p:nvSpPr>
            <p:cNvPr id="289" name="Google Shape;289;p25"/>
            <p:cNvSpPr/>
            <p:nvPr/>
          </p:nvSpPr>
          <p:spPr>
            <a:xfrm>
              <a:off x="0" y="0"/>
              <a:ext cx="36768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5"/>
            <p:cNvSpPr/>
            <p:nvPr/>
          </p:nvSpPr>
          <p:spPr>
            <a:xfrm>
              <a:off x="0" y="0"/>
              <a:ext cx="36768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5"/>
            <p:cNvSpPr txBox="1"/>
            <p:nvPr/>
          </p:nvSpPr>
          <p:spPr>
            <a:xfrm>
              <a:off x="228600" y="228600"/>
              <a:ext cx="3219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B82F6"/>
                  </a:solidFill>
                  <a:latin typeface="Roboto"/>
                  <a:ea typeface="Roboto"/>
                  <a:cs typeface="Roboto"/>
                  <a:sym typeface="Roboto"/>
                </a:rPr>
                <a:t>Key Findings</a:t>
              </a:r>
              <a:endParaRPr b="1" sz="1200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2" name="Google Shape;292;p25"/>
            <p:cNvSpPr txBox="1"/>
            <p:nvPr/>
          </p:nvSpPr>
          <p:spPr>
            <a:xfrm>
              <a:off x="0" y="514500"/>
              <a:ext cx="35994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The youngest group  aged 25-29 score 4.40, the highest of any group and 0.30 points above the overall average of 4.10.</a:t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Satisfaction drops steadily from 25 to 39. Average customer satisfaction rate falls from 4.40 to 4.19 to 3.99, a decline of about 0.41 points across three age bands.</a:t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800"/>
                </a:spcBef>
                <a:spcAft>
                  <a:spcPts val="80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The 35-39 group is the least satisfied (3.99). It is the only group that falls below 4.0, </a:t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3" name="Google Shape;293;p25"/>
          <p:cNvGrpSpPr/>
          <p:nvPr/>
        </p:nvGrpSpPr>
        <p:grpSpPr>
          <a:xfrm>
            <a:off x="4381500" y="1428750"/>
            <a:ext cx="4286400" cy="3238500"/>
            <a:chOff x="0" y="0"/>
            <a:chExt cx="4286400" cy="3238500"/>
          </a:xfrm>
        </p:grpSpPr>
        <p:sp>
          <p:nvSpPr>
            <p:cNvPr id="294" name="Google Shape;294;p25"/>
            <p:cNvSpPr/>
            <p:nvPr/>
          </p:nvSpPr>
          <p:spPr>
            <a:xfrm>
              <a:off x="0" y="0"/>
              <a:ext cx="42864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0" y="0"/>
              <a:ext cx="4286400" cy="381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96" name="Google Shape;29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503" y="2126088"/>
            <a:ext cx="4286397" cy="184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close/>
              </a:path>
            </a:pathLst>
          </a:custGeom>
          <a:solidFill>
            <a:srgbClr val="351C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2" name="Google Shape;302;p26"/>
          <p:cNvGrpSpPr/>
          <p:nvPr/>
        </p:nvGrpSpPr>
        <p:grpSpPr>
          <a:xfrm>
            <a:off x="476250" y="333375"/>
            <a:ext cx="1714500" cy="247800"/>
            <a:chOff x="0" y="0"/>
            <a:chExt cx="1714500" cy="247800"/>
          </a:xfrm>
        </p:grpSpPr>
        <p:sp>
          <p:nvSpPr>
            <p:cNvPr id="303" name="Google Shape;303;p26"/>
            <p:cNvSpPr/>
            <p:nvPr/>
          </p:nvSpPr>
          <p:spPr>
            <a:xfrm>
              <a:off x="0" y="0"/>
              <a:ext cx="1714500" cy="2478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304" name="Google Shape;304;p26"/>
            <p:cNvSpPr txBox="1"/>
            <p:nvPr/>
          </p:nvSpPr>
          <p:spPr>
            <a:xfrm>
              <a:off x="0" y="0"/>
              <a:ext cx="1714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3B82F6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PERFORMANCE ANALYSIS</a:t>
              </a:r>
              <a:endParaRPr sz="900">
                <a:solidFill>
                  <a:srgbClr val="3B82F6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305" name="Google Shape;305;p26"/>
          <p:cNvSpPr txBox="1"/>
          <p:nvPr/>
        </p:nvSpPr>
        <p:spPr>
          <a:xfrm>
            <a:off x="476250" y="66675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Satisfaction Rate vs. Average Resolution Time</a:t>
            </a:r>
            <a:endParaRPr b="1"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06" name="Google Shape;306;p26"/>
          <p:cNvGrpSpPr/>
          <p:nvPr/>
        </p:nvGrpSpPr>
        <p:grpSpPr>
          <a:xfrm>
            <a:off x="476250" y="1428750"/>
            <a:ext cx="3676934" cy="3238500"/>
            <a:chOff x="0" y="0"/>
            <a:chExt cx="3905400" cy="3238500"/>
          </a:xfrm>
        </p:grpSpPr>
        <p:sp>
          <p:nvSpPr>
            <p:cNvPr id="307" name="Google Shape;307;p26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6"/>
            <p:cNvSpPr/>
            <p:nvPr/>
          </p:nvSpPr>
          <p:spPr>
            <a:xfrm>
              <a:off x="0" y="0"/>
              <a:ext cx="39054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6"/>
            <p:cNvSpPr txBox="1"/>
            <p:nvPr/>
          </p:nvSpPr>
          <p:spPr>
            <a:xfrm>
              <a:off x="228600" y="228600"/>
              <a:ext cx="3448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B82F6"/>
                  </a:solidFill>
                  <a:latin typeface="Roboto"/>
                  <a:ea typeface="Roboto"/>
                  <a:cs typeface="Roboto"/>
                  <a:sym typeface="Roboto"/>
                </a:rPr>
                <a:t>Key Findings</a:t>
              </a:r>
              <a:endParaRPr b="1" sz="1200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0" name="Google Shape;310;p26"/>
            <p:cNvSpPr txBox="1"/>
            <p:nvPr/>
          </p:nvSpPr>
          <p:spPr>
            <a:xfrm>
              <a:off x="0" y="609600"/>
              <a:ext cx="37965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Average satisfaction is very stable for the first 12 days. Average CSAT stays between 4.0 and 4.2, close to the overall average of 4.10. </a:t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Char char="●"/>
              </a:pP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There is sharp rise to 4.5 in the satisfaction rate after the lowest dip to 3.9 at day 19.</a:t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t/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1" name="Google Shape;311;p26"/>
          <p:cNvGrpSpPr/>
          <p:nvPr/>
        </p:nvGrpSpPr>
        <p:grpSpPr>
          <a:xfrm>
            <a:off x="4279550" y="1428750"/>
            <a:ext cx="4388148" cy="3238500"/>
            <a:chOff x="0" y="0"/>
            <a:chExt cx="4000500" cy="3238500"/>
          </a:xfrm>
        </p:grpSpPr>
        <p:sp>
          <p:nvSpPr>
            <p:cNvPr id="312" name="Google Shape;312;p26"/>
            <p:cNvSpPr/>
            <p:nvPr/>
          </p:nvSpPr>
          <p:spPr>
            <a:xfrm>
              <a:off x="0" y="0"/>
              <a:ext cx="40005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0" y="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14" name="Google Shape;31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9550" y="2176000"/>
            <a:ext cx="4388150" cy="1744025"/>
          </a:xfrm>
          <a:prstGeom prst="rect">
            <a:avLst/>
          </a:prstGeom>
          <a:solidFill>
            <a:srgbClr val="351C75"/>
          </a:solidFill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close/>
              </a:path>
            </a:pathLst>
          </a:custGeom>
          <a:solidFill>
            <a:srgbClr val="351C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0" name="Google Shape;320;p27"/>
          <p:cNvGrpSpPr/>
          <p:nvPr/>
        </p:nvGrpSpPr>
        <p:grpSpPr>
          <a:xfrm>
            <a:off x="315800" y="600325"/>
            <a:ext cx="8352053" cy="4544401"/>
            <a:chOff x="0" y="0"/>
            <a:chExt cx="8191500" cy="3571800"/>
          </a:xfrm>
        </p:grpSpPr>
        <p:sp>
          <p:nvSpPr>
            <p:cNvPr id="321" name="Google Shape;321;p27"/>
            <p:cNvSpPr/>
            <p:nvPr/>
          </p:nvSpPr>
          <p:spPr>
            <a:xfrm>
              <a:off x="0" y="0"/>
              <a:ext cx="8191500" cy="3571800"/>
            </a:xfrm>
            <a:prstGeom prst="roundRect">
              <a:avLst>
                <a:gd fmla="val 32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7"/>
            <p:cNvSpPr/>
            <p:nvPr/>
          </p:nvSpPr>
          <p:spPr>
            <a:xfrm>
              <a:off x="0" y="0"/>
              <a:ext cx="81915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3" name="Google Shape;323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0975" y="180975"/>
              <a:ext cx="7829400" cy="3210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4" name="Google Shape;324;p27" title="Screenshot 2026-10-13 023534.png"/>
          <p:cNvPicPr preferRelativeResize="0"/>
          <p:nvPr/>
        </p:nvPicPr>
        <p:blipFill rotWithShape="1">
          <a:blip r:embed="rId4">
            <a:alphaModFix/>
          </a:blip>
          <a:srcRect b="377" l="0" r="0" t="377"/>
          <a:stretch/>
        </p:blipFill>
        <p:spPr>
          <a:xfrm>
            <a:off x="516775" y="847375"/>
            <a:ext cx="7950122" cy="4050299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7"/>
          <p:cNvSpPr txBox="1"/>
          <p:nvPr/>
        </p:nvSpPr>
        <p:spPr>
          <a:xfrm>
            <a:off x="3481888" y="46225"/>
            <a:ext cx="201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DASHBOARD</a:t>
            </a:r>
            <a:endParaRPr b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8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close/>
              </a:path>
            </a:pathLst>
          </a:custGeom>
          <a:solidFill>
            <a:srgbClr val="351C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1" name="Google Shape;331;p28"/>
          <p:cNvGrpSpPr/>
          <p:nvPr/>
        </p:nvGrpSpPr>
        <p:grpSpPr>
          <a:xfrm>
            <a:off x="476250" y="333375"/>
            <a:ext cx="1714500" cy="247800"/>
            <a:chOff x="0" y="0"/>
            <a:chExt cx="1714500" cy="247800"/>
          </a:xfrm>
        </p:grpSpPr>
        <p:sp>
          <p:nvSpPr>
            <p:cNvPr id="332" name="Google Shape;332;p28"/>
            <p:cNvSpPr/>
            <p:nvPr/>
          </p:nvSpPr>
          <p:spPr>
            <a:xfrm>
              <a:off x="0" y="0"/>
              <a:ext cx="1714500" cy="2478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333" name="Google Shape;333;p28"/>
            <p:cNvSpPr txBox="1"/>
            <p:nvPr/>
          </p:nvSpPr>
          <p:spPr>
            <a:xfrm>
              <a:off x="0" y="0"/>
              <a:ext cx="1714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3B82F6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EXECUTIVE SUMMARY</a:t>
              </a:r>
              <a:endParaRPr sz="900">
                <a:solidFill>
                  <a:srgbClr val="3B82F6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334" name="Google Shape;334;p28"/>
          <p:cNvSpPr txBox="1"/>
          <p:nvPr/>
        </p:nvSpPr>
        <p:spPr>
          <a:xfrm>
            <a:off x="476250" y="66675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Key Insights &amp; Strategic</a:t>
            </a:r>
            <a:r>
              <a:rPr b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Conclusions</a:t>
            </a:r>
            <a:endParaRPr b="1"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35" name="Google Shape;335;p28"/>
          <p:cNvGrpSpPr/>
          <p:nvPr/>
        </p:nvGrpSpPr>
        <p:grpSpPr>
          <a:xfrm>
            <a:off x="476250" y="1285875"/>
            <a:ext cx="8191500" cy="3429000"/>
            <a:chOff x="0" y="0"/>
            <a:chExt cx="8191500" cy="3429000"/>
          </a:xfrm>
        </p:grpSpPr>
        <p:sp>
          <p:nvSpPr>
            <p:cNvPr id="336" name="Google Shape;336;p28"/>
            <p:cNvSpPr/>
            <p:nvPr/>
          </p:nvSpPr>
          <p:spPr>
            <a:xfrm>
              <a:off x="0" y="0"/>
              <a:ext cx="8191500" cy="3429000"/>
            </a:xfrm>
            <a:prstGeom prst="roundRect">
              <a:avLst>
                <a:gd fmla="val 3333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8"/>
            <p:cNvSpPr/>
            <p:nvPr/>
          </p:nvSpPr>
          <p:spPr>
            <a:xfrm>
              <a:off x="0" y="0"/>
              <a:ext cx="81915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8"/>
            <p:cNvSpPr txBox="1"/>
            <p:nvPr/>
          </p:nvSpPr>
          <p:spPr>
            <a:xfrm>
              <a:off x="333375" y="285750"/>
              <a:ext cx="75249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3B82F6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01. Demographics Overview: </a:t>
              </a:r>
              <a:r>
                <a:rPr lang="en" sz="1200">
                  <a:solidFill>
                    <a:srgbClr val="F3F3F3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Youngest users (25–29) score highest CSAT at 4.40. Satisfaction drops steadily across age bands to 3.99, making the 35–39 age group the lowest-performing segment.</a:t>
              </a:r>
              <a:endParaRPr sz="1200">
                <a:solidFill>
                  <a:srgbClr val="F3F3F3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0B98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02. Resolution Time Trends: </a:t>
              </a:r>
              <a:r>
                <a:rPr lang="en" sz="1200">
                  <a:solidFill>
                    <a:srgbClr val="F3F3F3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Average Customer Satisfaction Rate </a:t>
              </a:r>
              <a:r>
                <a:rPr lang="en" sz="1200">
                  <a:solidFill>
                    <a:srgbClr val="F3F3F3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remains stable between 4.0–4.2 during the initial 12 days. The lowest satisfaction point (3.9) occurs at day 19, followed by a sharp recovery rebounding past 4.5.</a:t>
              </a:r>
              <a:endParaRPr sz="1200">
                <a:solidFill>
                  <a:srgbClr val="F3F3F3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F59E0B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03. Strategic Action Plan: </a:t>
              </a:r>
              <a:r>
                <a:rPr lang="en" sz="1200">
                  <a:solidFill>
                    <a:srgbClr val="F3F3F3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Implement system automation to reduce the 6.6-day average resolution for 40% ticket volume, tailor UI/UX to resolve pain points for mid-age users, and overhaul hardware processes to eliminate peak 7.6-day delays.</a:t>
              </a:r>
              <a:endParaRPr sz="1200">
                <a:solidFill>
                  <a:srgbClr val="F3F3F3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close/>
              </a:path>
            </a:pathLst>
          </a:custGeom>
          <a:solidFill>
            <a:srgbClr val="351C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4" name="Google Shape;344;p29"/>
          <p:cNvGrpSpPr/>
          <p:nvPr/>
        </p:nvGrpSpPr>
        <p:grpSpPr>
          <a:xfrm>
            <a:off x="476250" y="333375"/>
            <a:ext cx="1714500" cy="247800"/>
            <a:chOff x="0" y="0"/>
            <a:chExt cx="1714500" cy="247800"/>
          </a:xfrm>
        </p:grpSpPr>
        <p:sp>
          <p:nvSpPr>
            <p:cNvPr id="345" name="Google Shape;345;p29"/>
            <p:cNvSpPr/>
            <p:nvPr/>
          </p:nvSpPr>
          <p:spPr>
            <a:xfrm>
              <a:off x="0" y="0"/>
              <a:ext cx="1714500" cy="2478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346" name="Google Shape;346;p29"/>
            <p:cNvSpPr txBox="1"/>
            <p:nvPr/>
          </p:nvSpPr>
          <p:spPr>
            <a:xfrm>
              <a:off x="0" y="0"/>
              <a:ext cx="1714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3B82F6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STRATEGIC ACTION PLAN</a:t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347" name="Google Shape;347;p29"/>
          <p:cNvSpPr txBox="1"/>
          <p:nvPr/>
        </p:nvSpPr>
        <p:spPr>
          <a:xfrm>
            <a:off x="476250" y="66675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Recommendations for Performance Optimization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48" name="Google Shape;348;p29"/>
          <p:cNvGrpSpPr/>
          <p:nvPr/>
        </p:nvGrpSpPr>
        <p:grpSpPr>
          <a:xfrm>
            <a:off x="476250" y="1085625"/>
            <a:ext cx="8191500" cy="3629100"/>
            <a:chOff x="0" y="-200250"/>
            <a:chExt cx="8191500" cy="3629100"/>
          </a:xfrm>
        </p:grpSpPr>
        <p:sp>
          <p:nvSpPr>
            <p:cNvPr id="349" name="Google Shape;349;p29"/>
            <p:cNvSpPr/>
            <p:nvPr/>
          </p:nvSpPr>
          <p:spPr>
            <a:xfrm>
              <a:off x="0" y="-200250"/>
              <a:ext cx="8191500" cy="3629100"/>
            </a:xfrm>
            <a:prstGeom prst="roundRect">
              <a:avLst>
                <a:gd fmla="val 3333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9"/>
            <p:cNvSpPr/>
            <p:nvPr/>
          </p:nvSpPr>
          <p:spPr>
            <a:xfrm>
              <a:off x="0" y="-200250"/>
              <a:ext cx="81915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9"/>
            <p:cNvSpPr txBox="1"/>
            <p:nvPr/>
          </p:nvSpPr>
          <p:spPr>
            <a:xfrm>
              <a:off x="190500" y="-47650"/>
              <a:ext cx="76677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" sz="1400">
                  <a:solidFill>
                    <a:srgbClr val="3B82F6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Key Action Items &amp; Recommendations</a:t>
              </a:r>
              <a:endParaRPr i="0" sz="1400">
                <a:solidFill>
                  <a:srgbClr val="3B82F6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352" name="Google Shape;352;p29"/>
            <p:cNvSpPr txBox="1"/>
            <p:nvPr/>
          </p:nvSpPr>
          <p:spPr>
            <a:xfrm>
              <a:off x="190500" y="285650"/>
              <a:ext cx="7845600" cy="290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AutoNum type="arabicPeriod"/>
              </a:pPr>
              <a:r>
                <a:rPr b="1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Plan staffing before the busy season.</a:t>
              </a: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sz="1200">
                  <a:solidFill>
                    <a:srgbClr val="EFEFEF"/>
                  </a:solidFill>
                  <a:latin typeface="Roboto"/>
                  <a:ea typeface="Roboto"/>
                  <a:cs typeface="Roboto"/>
                  <a:sym typeface="Roboto"/>
                </a:rPr>
                <a:t>August, October, and December are consistently the busiest months, and the second half of the year carries about 5% more tickets. Hiring or onboarding new agents ahead of Q4 will help the team avoid overload when volume peaks.</a:t>
              </a:r>
              <a:endParaRPr sz="12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AutoNum type="arabicPeriod"/>
              </a:pPr>
              <a:r>
                <a:rPr b="1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Coach the agents who need it most</a:t>
              </a: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. </a:t>
              </a:r>
              <a:r>
                <a:rPr lang="en" sz="1200">
                  <a:solidFill>
                    <a:srgbClr val="EFEFEF"/>
                  </a:solidFill>
                  <a:latin typeface="Roboto"/>
                  <a:ea typeface="Roboto"/>
                  <a:cs typeface="Roboto"/>
                  <a:sym typeface="Roboto"/>
                </a:rPr>
                <a:t>Targeted coaching for the lowest-performing agents is more effective than generic team-wide retraining. It should focus on improving resolution speed and customer satisfaction.</a:t>
              </a: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Font typeface="Roboto"/>
                <a:buAutoNum type="arabicPeriod"/>
              </a:pPr>
              <a:r>
                <a:rPr b="1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Create a clear improvement plan for Hardware. </a:t>
              </a:r>
              <a:r>
                <a:rPr lang="en" sz="1200">
                  <a:solidFill>
                    <a:srgbClr val="EFEFEF"/>
                  </a:solidFill>
                  <a:latin typeface="Roboto"/>
                  <a:ea typeface="Roboto"/>
                  <a:cs typeface="Roboto"/>
                  <a:sym typeface="Roboto"/>
                </a:rPr>
                <a:t>Hardware tickets are fewer but take the longest, at 7.6 days on average. Standard operating procedures, simple triage rules, and a good knowledge base can help agents resolve them faster. </a:t>
              </a:r>
              <a:endParaRPr sz="12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AutoNum type="arabicPeriod"/>
              </a:pPr>
              <a:r>
                <a:rPr b="1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Automate the routine work.</a:t>
              </a: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sz="1200">
                  <a:solidFill>
                    <a:srgbClr val="EFEFEF"/>
                  </a:solidFill>
                  <a:latin typeface="Roboto"/>
                  <a:ea typeface="Roboto"/>
                  <a:cs typeface="Roboto"/>
                  <a:sym typeface="Roboto"/>
                </a:rPr>
                <a:t>Smart ticketing and automation tools can handle repetitive requests, such as login and access issues, and reduce manual effort. This frees agents to spend more time on complex problems. </a:t>
              </a:r>
              <a:endParaRPr sz="12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F3F3"/>
                </a:buClr>
                <a:buSzPts val="1200"/>
                <a:buAutoNum type="arabicPeriod"/>
              </a:pPr>
              <a:r>
                <a:rPr b="1"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Focus on System tickets first.</a:t>
              </a:r>
              <a:r>
                <a:rPr lang="en" sz="1200">
                  <a:solidFill>
                    <a:srgbClr val="F3F3F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sz="1200">
                  <a:solidFill>
                    <a:srgbClr val="EFEFEF"/>
                  </a:solidFill>
                  <a:latin typeface="Roboto"/>
                  <a:ea typeface="Roboto"/>
                  <a:cs typeface="Roboto"/>
                  <a:sym typeface="Roboto"/>
                </a:rPr>
                <a:t>System issues make up 40% of all tickets and take 6.6 days on average to resolve. Adding resources and improving how complex cases are handled here will have the biggest impact on overall efficiency. </a:t>
              </a:r>
              <a:endParaRPr sz="12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0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close/>
              </a:path>
            </a:pathLst>
          </a:custGeom>
          <a:solidFill>
            <a:srgbClr val="351C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8" name="Google Shape;358;p30"/>
          <p:cNvGrpSpPr/>
          <p:nvPr/>
        </p:nvGrpSpPr>
        <p:grpSpPr>
          <a:xfrm>
            <a:off x="2286000" y="2095500"/>
            <a:ext cx="4572000" cy="2000100"/>
            <a:chOff x="0" y="0"/>
            <a:chExt cx="4572000" cy="2000100"/>
          </a:xfrm>
        </p:grpSpPr>
        <p:sp>
          <p:nvSpPr>
            <p:cNvPr id="359" name="Google Shape;359;p30"/>
            <p:cNvSpPr/>
            <p:nvPr/>
          </p:nvSpPr>
          <p:spPr>
            <a:xfrm>
              <a:off x="0" y="0"/>
              <a:ext cx="4572000" cy="20001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0" y="0"/>
              <a:ext cx="45720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1" name="Google Shape;361;p30"/>
          <p:cNvSpPr txBox="1"/>
          <p:nvPr/>
        </p:nvSpPr>
        <p:spPr>
          <a:xfrm>
            <a:off x="952500" y="1047750"/>
            <a:ext cx="723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Thank You!</a:t>
            </a:r>
            <a:endParaRPr sz="44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362" name="Google Shape;362;p30"/>
          <p:cNvSpPr txBox="1"/>
          <p:nvPr/>
        </p:nvSpPr>
        <p:spPr>
          <a:xfrm>
            <a:off x="2571750" y="2333625"/>
            <a:ext cx="40005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Vikrant Chaudhary</a:t>
            </a:r>
            <a:endParaRPr b="1" sz="2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rPr>
              <a:t>chaudharyvikrant2000@gmail.com</a:t>
            </a:r>
            <a:endParaRPr sz="1300">
              <a:solidFill>
                <a:srgbClr val="3B82F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Batch: </a:t>
            </a:r>
            <a:r>
              <a:rPr b="1"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Newton School August B 2026</a:t>
            </a:r>
            <a:endParaRPr b="1"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